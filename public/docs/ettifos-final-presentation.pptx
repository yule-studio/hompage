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</p:sldMasterIdLst>
  <p:notesMasterIdLst>
    <p:notesMasterId r:id="rId27"/>
  </p:notesMasterIdLst>
  <p:sldIdLst>
    <p:sldId id="4448" r:id="rId3"/>
    <p:sldId id="257" r:id="rId4"/>
    <p:sldId id="4541" r:id="rId5"/>
    <p:sldId id="4542" r:id="rId6"/>
    <p:sldId id="4466" r:id="rId7"/>
    <p:sldId id="4517" r:id="rId8"/>
    <p:sldId id="4504" r:id="rId9"/>
    <p:sldId id="4505" r:id="rId10"/>
    <p:sldId id="4546" r:id="rId11"/>
    <p:sldId id="4514" r:id="rId12"/>
    <p:sldId id="4516" r:id="rId13"/>
    <p:sldId id="4548" r:id="rId14"/>
    <p:sldId id="4510" r:id="rId15"/>
    <p:sldId id="4549" r:id="rId16"/>
    <p:sldId id="4553" r:id="rId17"/>
    <p:sldId id="4532" r:id="rId18"/>
    <p:sldId id="4536" r:id="rId19"/>
    <p:sldId id="4554" r:id="rId20"/>
    <p:sldId id="4550" r:id="rId21"/>
    <p:sldId id="4551" r:id="rId22"/>
    <p:sldId id="4552" r:id="rId23"/>
    <p:sldId id="4540" r:id="rId24"/>
    <p:sldId id="4543" r:id="rId25"/>
    <p:sldId id="453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4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FF43"/>
    <a:srgbClr val="4472C4"/>
    <a:srgbClr val="164194"/>
    <a:srgbClr val="2E75B5"/>
    <a:srgbClr val="738694"/>
    <a:srgbClr val="697B89"/>
    <a:srgbClr val="97A5AF"/>
    <a:srgbClr val="8898A4"/>
    <a:srgbClr val="EAECEE"/>
    <a:srgbClr val="CBD2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8" autoAdjust="0"/>
    <p:restoredTop sz="97402" autoAdjust="0"/>
  </p:normalViewPr>
  <p:slideViewPr>
    <p:cSldViewPr snapToGrid="0" showGuides="1">
      <p:cViewPr varScale="1">
        <p:scale>
          <a:sx n="145" d="100"/>
          <a:sy n="145" d="100"/>
        </p:scale>
        <p:origin x="150" y="360"/>
      </p:cViewPr>
      <p:guideLst>
        <p:guide orient="horz" pos="3543"/>
        <p:guide pos="38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57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FFF27-E016-414E-9019-A1AF6FCAFE29}" type="datetimeFigureOut">
              <a:rPr lang="ko-KR" altLang="en-US" smtClean="0"/>
              <a:t>2023-11-30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BD61E-0FA5-4EE6-A895-3F8DC73E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001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BD61E-0FA5-4EE6-A895-3F8DC73E050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000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7185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04ADE41B-7A63-4F6E-9809-B78A90713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7A1740BB-4D50-4403-A6F3-5F4F0D03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BE3CF422-D1D5-4A32-802B-ADE7E367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/>
              <a:t>Ettifos Confidential</a:t>
            </a:r>
            <a:endParaRPr lang="ko-KR" alt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AFC95B5D-CD1C-4B4A-9661-EA8F61D0F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D617DE7-08B8-4F8B-9898-30A2E22A25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6"/>
          <a:stretch/>
        </p:blipFill>
        <p:spPr>
          <a:xfrm>
            <a:off x="10848375" y="132867"/>
            <a:ext cx="1203824" cy="47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9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7526B9-5F92-4550-A3B9-807DFB2D2B5A}"/>
              </a:ext>
            </a:extLst>
          </p:cNvPr>
          <p:cNvSpPr/>
          <p:nvPr userDrawn="1"/>
        </p:nvSpPr>
        <p:spPr>
          <a:xfrm>
            <a:off x="0" y="677863"/>
            <a:ext cx="8617527" cy="69549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468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6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526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838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7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50044" y="6356350"/>
            <a:ext cx="2986087" cy="365125"/>
          </a:xfrm>
        </p:spPr>
        <p:txBody>
          <a:bodyPr/>
          <a:lstStyle>
            <a:lvl1pPr algn="l">
              <a:defRPr>
                <a:latin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3170586" cy="365125"/>
          </a:xfrm>
        </p:spPr>
        <p:txBody>
          <a:bodyPr/>
          <a:lstStyle>
            <a:lvl1pPr>
              <a:defRPr>
                <a:latin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fld id="{C2DFF543-08BB-43E3-B4C7-79409ADD44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67ADA2-D291-481D-A149-DB935DEE9176}"/>
              </a:ext>
            </a:extLst>
          </p:cNvPr>
          <p:cNvSpPr/>
          <p:nvPr userDrawn="1"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6D3A9C-F1A1-46AB-9EBD-5B38D48CC2B2}"/>
              </a:ext>
            </a:extLst>
          </p:cNvPr>
          <p:cNvSpPr txBox="1"/>
          <p:nvPr userDrawn="1"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To-Do list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AD8E8176-F7A8-431F-BEA0-B87B7529ED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6437" y="124232"/>
            <a:ext cx="1141676" cy="42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3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04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418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92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43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069B9-1B3E-4385-B88B-2552CE602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03B991-1E8F-4B6D-99AE-7D1F6935F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0F2455-7D1A-41E3-A767-632FC30D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FA51D0-6CDD-453B-BE8F-2A14BD97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7D0788-8EF4-4FB3-8ABC-D44A5752D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254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27D5E-26B0-4383-BDC4-505C673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42B624-AFA4-4B43-88E8-51D50994D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8408FD-D1E9-4C35-8328-23BC74A4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F73B69-7886-4AF5-A94D-40E454D4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B6F3B0-74F6-460F-B906-8BDC3579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22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F9EAA-A5D4-4639-A241-CC32906CA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43C6C0-4F59-4896-BA44-A555B2F88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FBC5D-136E-4191-9B64-CC320334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CDEE7A-A0BF-418E-A4FC-F4274BDE0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EF991A-6B73-4C58-AB3F-2A63E7AC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781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9E2D8-643F-4216-B778-A13380E6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725465-09E3-49B3-88DF-56583C40FF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6A9071-ED87-4163-8C46-FEB7BD236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1C3DE3-9125-4DA6-8ABB-66B03A691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457255-7CA6-453D-BF2D-F0BEC5E40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3ADB93-ECBE-4C6E-85D4-710E5237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941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128AB-7148-4A8C-88B8-9D8DFD57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D10183-FB84-4E4A-A327-67B534756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484A0E-8869-4533-8CBE-18BA0FB70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F972D4-8A2E-44B5-AE17-78C04AB70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2183D8-A220-4E5F-A9AF-66AED4F58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FF2B26-69B0-4EE8-BCA6-186227A5E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7CE073-22C7-4BEB-A6F5-6CF81703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F7F5EC-094C-450A-A5C8-FBDD336B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355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4A6B0-B591-4393-A660-ED5221F7B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34F458-575A-4C22-BF15-C7A2C41E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8EFF13-050F-47E4-A708-93544B29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F7B808-184E-4F02-87AD-E3F285F5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900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75CDDE-9926-4A81-8426-13C46F44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C76F76-A450-4D22-9F97-C39FBD30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6B0F01-C29D-4707-A34E-6DB23D9A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5342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22AA1-159E-4E3E-9A24-6B74859D2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9FDDAF-1F3E-4B23-AC44-19BAF27D2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061FA5-6244-4B10-8F49-A94B14859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45DDE6-0204-4177-9C55-C81C8827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B76C78-16DA-4575-B4ED-6537D91E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3CB9EF-A283-48A7-B1D9-8EC649B24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754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1F0E0-D67D-46B7-973A-CBB55A601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192513A-8E3B-49EA-90CA-60B9498EE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0E4F2F-62FE-4A9C-B1F7-908C4F09E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20B644-BDB0-4664-875E-85569903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222C45-834F-49F0-BC75-75AFA9C54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C101A-659B-41E2-808B-32F4AEDCA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49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B1305-3ED4-4CD4-B934-1F11CBDA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D1CF8A-6064-47DE-97ED-AE6F3A9D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532686-6ECC-4F17-A0C2-FD1A75C5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68F0F0-68FD-444B-BAF6-26022B090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EA4DD-3C7A-47DA-9CD6-E7653547F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2804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E77E40-8AE7-468A-BD89-9C6CA546A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9A4126-9160-498C-A0DB-1173B8FD9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0911A5-D739-4CE5-BAB4-6EBCD232D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C05578-1B3B-4C9B-AF99-72A36982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F9F21-5793-49BF-8403-93C38A1AF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68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6DF2923-11A8-4F2C-B6E7-B06FBC54BDF6}"/>
              </a:ext>
            </a:extLst>
          </p:cNvPr>
          <p:cNvSpPr txBox="1">
            <a:spLocks/>
          </p:cNvSpPr>
          <p:nvPr userDrawn="1"/>
        </p:nvSpPr>
        <p:spPr>
          <a:xfrm>
            <a:off x="4925678" y="6538912"/>
            <a:ext cx="2242838" cy="182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1100" b="1" dirty="0" err="1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서돌전자통시</a:t>
            </a:r>
            <a:r>
              <a:rPr lang="en-US" altLang="ko-KR" sz="1100" b="1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</a:t>
            </a:r>
            <a:r>
              <a:rPr lang="ko-KR" altLang="en-US" sz="1100" b="1" dirty="0" err="1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에티포스</a:t>
            </a:r>
            <a:r>
              <a:rPr lang="ko-KR" altLang="en-US" sz="1100" b="1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대외비</a:t>
            </a:r>
            <a:endParaRPr lang="en-US" altLang="ko-KR" sz="1100" b="1" dirty="0">
              <a:solidFill>
                <a:srgbClr val="FF000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22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B8D69A-DE51-408E-9170-E6F148566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96D175-4B2B-4687-A711-938B13559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9926D-67D8-4149-8C9B-701CBF3D8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B3096A-1405-4FEF-92B6-CE481CC6B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4F2042-2870-42EA-BAE5-8D6B91B8C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3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0DCA561-FD7A-48C1-A39E-61CFA89FAF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7000">
                <a:srgbClr val="3B87CD"/>
              </a:gs>
              <a:gs pos="0">
                <a:srgbClr val="266196"/>
              </a:gs>
              <a:gs pos="100000">
                <a:srgbClr val="A6C9E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9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2A22FE-FE86-4DF7-B19E-C531D03F626A}"/>
              </a:ext>
            </a:extLst>
          </p:cNvPr>
          <p:cNvSpPr txBox="1"/>
          <p:nvPr/>
        </p:nvSpPr>
        <p:spPr>
          <a:xfrm>
            <a:off x="648183" y="295155"/>
            <a:ext cx="3408912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Bold" panose="00000800000000000000" pitchFamily="2" charset="-127"/>
                <a:cs typeface="Noto Sans" panose="020B0502040504020204" pitchFamily="34" charset="0"/>
              </a:rPr>
              <a:t>Internal Manual</a:t>
            </a:r>
            <a:endParaRPr lang="ko-KR" altLang="en-US" sz="2000" dirty="0">
              <a:solidFill>
                <a:schemeClr val="bg1">
                  <a:lumMod val="95000"/>
                </a:schemeClr>
              </a:solidFill>
              <a:latin typeface="Noto Sans" panose="020B0502040504020204" pitchFamily="34" charset="0"/>
              <a:ea typeface="KoPub돋움체 Bold" panose="00000800000000000000" pitchFamily="2" charset="-127"/>
              <a:cs typeface="Noto Sans" panose="020B050204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BD73F4-248A-4AA4-8EBC-88F004D9D343}"/>
              </a:ext>
            </a:extLst>
          </p:cNvPr>
          <p:cNvSpPr txBox="1"/>
          <p:nvPr/>
        </p:nvSpPr>
        <p:spPr>
          <a:xfrm>
            <a:off x="648181" y="4781659"/>
            <a:ext cx="2848598" cy="1141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SW2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Nov 2023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6D719A1D-A16B-4F4C-A7D3-1147021E7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9778" y="5056307"/>
            <a:ext cx="3698728" cy="8472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F0CF3B-0919-4F66-96BF-31C7132F89A4}"/>
              </a:ext>
            </a:extLst>
          </p:cNvPr>
          <p:cNvSpPr txBox="1"/>
          <p:nvPr/>
        </p:nvSpPr>
        <p:spPr>
          <a:xfrm>
            <a:off x="648181" y="1093808"/>
            <a:ext cx="84305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광주 </a:t>
            </a:r>
            <a:r>
              <a:rPr lang="en-US" altLang="ko-KR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SW</a:t>
            </a:r>
            <a:r>
              <a:rPr lang="ko-KR" altLang="en-US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ko-KR" altLang="en-US" sz="40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마이스터고</a:t>
            </a:r>
            <a:br>
              <a:rPr lang="en-US" altLang="ko-KR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ko-KR" altLang="en-US" sz="40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오유찬</a:t>
            </a:r>
            <a:r>
              <a:rPr lang="ko-KR" altLang="en-US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인턴 </a:t>
            </a:r>
            <a:r>
              <a:rPr lang="en-US" altLang="ko-KR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– </a:t>
            </a:r>
            <a:r>
              <a:rPr lang="ko-KR" altLang="en-US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최종 발표</a:t>
            </a:r>
            <a:endParaRPr lang="en-US" altLang="ko-KR" sz="4000" b="1" dirty="0">
              <a:solidFill>
                <a:schemeClr val="bg1">
                  <a:lumMod val="95000"/>
                </a:scheme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AF82B927-5F37-42C4-8AEF-A5FE92DC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8717878-37B4-4570-87AF-F481C2863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579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5E0698-6DC2-3F1A-6568-530EDBEE03F0}"/>
              </a:ext>
            </a:extLst>
          </p:cNvPr>
          <p:cNvSpPr/>
          <p:nvPr/>
        </p:nvSpPr>
        <p:spPr>
          <a:xfrm>
            <a:off x="3874603" y="0"/>
            <a:ext cx="83173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Google Shape;102;p2"/>
          <p:cNvSpPr/>
          <p:nvPr/>
        </p:nvSpPr>
        <p:spPr>
          <a:xfrm>
            <a:off x="91207" y="0"/>
            <a:ext cx="3783396" cy="685799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>
              <a:solidFill>
                <a:schemeClr val="lt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Calibri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A299C6-1344-C595-1329-DE71501BC15D}"/>
              </a:ext>
            </a:extLst>
          </p:cNvPr>
          <p:cNvSpPr/>
          <p:nvPr/>
        </p:nvSpPr>
        <p:spPr>
          <a:xfrm>
            <a:off x="0" y="1"/>
            <a:ext cx="3783396" cy="6857999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595540" y="1029841"/>
            <a:ext cx="268121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</a:pPr>
            <a:r>
              <a:rPr lang="en-US" altLang="ko-KR" sz="3200" b="1" dirty="0">
                <a:solidFill>
                  <a:srgbClr val="F2F2F2"/>
                </a:solidFill>
                <a:latin typeface="+mn-ea"/>
                <a:ea typeface="+mn-ea"/>
                <a:cs typeface="Noto Sans" panose="020B0502040504020204" pitchFamily="34" charset="0"/>
                <a:sym typeface="Arial"/>
              </a:rPr>
              <a:t>Contents</a:t>
            </a:r>
            <a:endParaRPr sz="3200" b="1" dirty="0">
              <a:solidFill>
                <a:srgbClr val="F2F2F2"/>
              </a:solidFill>
              <a:latin typeface="+mn-ea"/>
              <a:ea typeface="+mn-ea"/>
              <a:cs typeface="Noto Sans" panose="020B0502040504020204" pitchFamily="34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F1923-6A06-38C0-0151-137AEE4978C4}"/>
              </a:ext>
            </a:extLst>
          </p:cNvPr>
          <p:cNvSpPr txBox="1"/>
          <p:nvPr/>
        </p:nvSpPr>
        <p:spPr>
          <a:xfrm>
            <a:off x="4336902" y="690272"/>
            <a:ext cx="6960636" cy="2941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2E75B5"/>
              </a:buClr>
              <a:buFont typeface="+mj-lt"/>
              <a:buAutoNum type="arabicPeriod"/>
            </a:pP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목표</a:t>
            </a:r>
            <a:endParaRPr lang="en-US" altLang="ko-KR" sz="2400" b="1" dirty="0">
              <a:solidFill>
                <a:schemeClr val="tx1">
                  <a:lumMod val="50000"/>
                  <a:lumOff val="50000"/>
                </a:scheme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514350" indent="-514350">
              <a:lnSpc>
                <a:spcPct val="200000"/>
              </a:lnSpc>
              <a:buClr>
                <a:srgbClr val="2E75B5"/>
              </a:buClr>
              <a:buFont typeface="+mj-lt"/>
              <a:buAutoNum type="arabicPeriod"/>
            </a:pPr>
            <a:r>
              <a:rPr lang="ko-KR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인턴 과제 발표</a:t>
            </a:r>
          </a:p>
          <a:p>
            <a:pPr marL="514350" indent="-514350">
              <a:lnSpc>
                <a:spcPct val="200000"/>
              </a:lnSpc>
              <a:buClr>
                <a:srgbClr val="2E75B5"/>
              </a:buClr>
              <a:buFont typeface="+mj-lt"/>
              <a:buAutoNum type="arabicPeriod"/>
            </a:pP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멘토 평가</a:t>
            </a:r>
            <a:endParaRPr lang="en-US" altLang="ko-KR" sz="2400" b="1" dirty="0">
              <a:solidFill>
                <a:schemeClr val="tx1">
                  <a:lumMod val="50000"/>
                  <a:lumOff val="50000"/>
                </a:scheme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514350" indent="-514350">
              <a:lnSpc>
                <a:spcPct val="200000"/>
              </a:lnSpc>
              <a:buClr>
                <a:srgbClr val="2E75B5"/>
              </a:buClr>
              <a:buFont typeface="+mj-lt"/>
              <a:buAutoNum type="arabicPeriod"/>
            </a:pPr>
            <a:r>
              <a:rPr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B2E7E4-10C1-E2C7-EEC2-EF2E20E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80859-85B4-ED39-1444-9CFFD33D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315FE066-0AEA-971A-DD8E-899E7890BBAA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EE63-5C51-417E-3B38-00A7CC295359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1 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목표</a:t>
            </a:r>
          </a:p>
        </p:txBody>
      </p:sp>
      <p:pic>
        <p:nvPicPr>
          <p:cNvPr id="6" name="그래픽 4">
            <a:extLst>
              <a:ext uri="{FF2B5EF4-FFF2-40B4-BE49-F238E27FC236}">
                <a16:creationId xmlns:a16="http://schemas.microsoft.com/office/drawing/2014/main" id="{A29E74A8-A05E-69CA-0764-6C9930D70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C5B9C1-1985-4E71-D2C6-59AD5D9AD155}"/>
              </a:ext>
            </a:extLst>
          </p:cNvPr>
          <p:cNvSpPr txBox="1"/>
          <p:nvPr/>
        </p:nvSpPr>
        <p:spPr>
          <a:xfrm>
            <a:off x="1222374" y="1929727"/>
            <a:ext cx="2625726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V2X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통신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(CV2X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DSRC)</a:t>
            </a:r>
            <a:endParaRPr 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Bef>
                <a:spcPts val="800"/>
              </a:spcBef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OBU</a:t>
            </a:r>
          </a:p>
          <a:p>
            <a:pPr>
              <a:spcBef>
                <a:spcPts val="800"/>
              </a:spcBef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RSU</a:t>
            </a:r>
          </a:p>
          <a:p>
            <a:pPr>
              <a:spcBef>
                <a:spcPts val="800"/>
              </a:spcBef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C-ITS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A9CAA3-5D12-A1F8-29A4-931A79A76AC6}"/>
              </a:ext>
            </a:extLst>
          </p:cNvPr>
          <p:cNvSpPr txBox="1"/>
          <p:nvPr/>
        </p:nvSpPr>
        <p:spPr>
          <a:xfrm>
            <a:off x="504408" y="990277"/>
            <a:ext cx="6000988" cy="420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ko-KR" altLang="en-US" b="1" dirty="0">
                <a:solidFill>
                  <a:schemeClr val="dk1"/>
                </a:solidFill>
                <a:latin typeface="+mn-ea"/>
                <a:cs typeface="Malgun Gothic"/>
                <a:sym typeface="Malgun Gothic"/>
              </a:rPr>
              <a:t>인턴 과정 중 </a:t>
            </a:r>
            <a:r>
              <a:rPr lang="ko-KR" altLang="en-US" sz="1800" b="1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 목표</a:t>
            </a:r>
            <a:endParaRPr lang="ko-KR" altLang="en-US" sz="1800" b="1" i="0" u="none" strike="noStrike" cap="none" dirty="0">
              <a:solidFill>
                <a:schemeClr val="dk1"/>
              </a:solidFill>
              <a:latin typeface="+mn-ea"/>
              <a:ea typeface="+mn-ea"/>
              <a:cs typeface="Malgun Gothic"/>
              <a:sym typeface="Malgun Gothic"/>
            </a:endParaRPr>
          </a:p>
        </p:txBody>
      </p:sp>
      <p:sp>
        <p:nvSpPr>
          <p:cNvPr id="14" name="Google Shape;225;p6">
            <a:extLst>
              <a:ext uri="{FF2B5EF4-FFF2-40B4-BE49-F238E27FC236}">
                <a16:creationId xmlns:a16="http://schemas.microsoft.com/office/drawing/2014/main" id="{FA9481A5-B0D9-D1DF-C8D5-41654043EE7B}"/>
              </a:ext>
            </a:extLst>
          </p:cNvPr>
          <p:cNvSpPr txBox="1"/>
          <p:nvPr/>
        </p:nvSpPr>
        <p:spPr>
          <a:xfrm>
            <a:off x="924828" y="3464293"/>
            <a:ext cx="879240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■ </a:t>
            </a:r>
            <a:r>
              <a:rPr lang="en-US" altLang="ko-KR" sz="16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Linux</a:t>
            </a: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 </a:t>
            </a:r>
            <a:r>
              <a:rPr lang="en-US" altLang="ko-KR" sz="16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OS</a:t>
            </a: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 이해</a:t>
            </a:r>
            <a:endParaRPr lang="ko-KR" altLang="en-US" sz="16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Google Shape;225;p6">
            <a:extLst>
              <a:ext uri="{FF2B5EF4-FFF2-40B4-BE49-F238E27FC236}">
                <a16:creationId xmlns:a16="http://schemas.microsoft.com/office/drawing/2014/main" id="{AA475107-BAEF-CAF6-9E66-45A320408908}"/>
              </a:ext>
            </a:extLst>
          </p:cNvPr>
          <p:cNvSpPr txBox="1"/>
          <p:nvPr/>
        </p:nvSpPr>
        <p:spPr>
          <a:xfrm>
            <a:off x="5458728" y="3464293"/>
            <a:ext cx="650467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■ </a:t>
            </a:r>
            <a:r>
              <a:rPr lang="ko-KR" altLang="en-US" sz="1600" b="1" dirty="0">
                <a:solidFill>
                  <a:schemeClr val="dk1"/>
                </a:solidFill>
                <a:latin typeface="+mn-ea"/>
                <a:cs typeface="Malgun Gothic"/>
                <a:sym typeface="Malgun Gothic"/>
              </a:rPr>
              <a:t>자료구조 학습</a:t>
            </a:r>
            <a:endParaRPr lang="ko-KR" altLang="en-US" sz="16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Google Shape;225;p6">
            <a:extLst>
              <a:ext uri="{FF2B5EF4-FFF2-40B4-BE49-F238E27FC236}">
                <a16:creationId xmlns:a16="http://schemas.microsoft.com/office/drawing/2014/main" id="{0441A5DB-1132-0404-7877-09AE8C967DA5}"/>
              </a:ext>
            </a:extLst>
          </p:cNvPr>
          <p:cNvSpPr txBox="1"/>
          <p:nvPr/>
        </p:nvSpPr>
        <p:spPr>
          <a:xfrm>
            <a:off x="5458728" y="1545484"/>
            <a:ext cx="657452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■ </a:t>
            </a:r>
            <a:r>
              <a:rPr lang="en-US" altLang="ko-KR" sz="16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C</a:t>
            </a: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언어 심화 학습</a:t>
            </a:r>
            <a:endParaRPr lang="ko-KR" altLang="en-US" sz="16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57A67-8F47-516A-B17B-E7E7DCA67CD2}"/>
              </a:ext>
            </a:extLst>
          </p:cNvPr>
          <p:cNvSpPr txBox="1"/>
          <p:nvPr/>
        </p:nvSpPr>
        <p:spPr>
          <a:xfrm>
            <a:off x="5768974" y="1904012"/>
            <a:ext cx="6102350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구조체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Bef>
                <a:spcPts val="800"/>
              </a:spcBef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파일 입출력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Bef>
                <a:spcPts val="800"/>
              </a:spcBef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동적 메모리 할당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Bef>
                <a:spcPts val="800"/>
              </a:spcBef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GUI /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Key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Input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Interface</a:t>
            </a:r>
            <a:endParaRPr 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Google Shape;225;p6">
            <a:extLst>
              <a:ext uri="{FF2B5EF4-FFF2-40B4-BE49-F238E27FC236}">
                <a16:creationId xmlns:a16="http://schemas.microsoft.com/office/drawing/2014/main" id="{E03EA9D8-4684-6872-EF41-307AE79D740A}"/>
              </a:ext>
            </a:extLst>
          </p:cNvPr>
          <p:cNvSpPr txBox="1"/>
          <p:nvPr/>
        </p:nvSpPr>
        <p:spPr>
          <a:xfrm>
            <a:off x="924828" y="1545484"/>
            <a:ext cx="879240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■ </a:t>
            </a:r>
            <a:r>
              <a:rPr lang="en-US" altLang="ko-KR" sz="16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E</a:t>
            </a:r>
            <a:r>
              <a:rPr lang="en-US" altLang="ko-KR" sz="1600" b="1" dirty="0">
                <a:solidFill>
                  <a:schemeClr val="dk1"/>
                </a:solidFill>
                <a:latin typeface="+mn-ea"/>
                <a:cs typeface="Malgun Gothic"/>
                <a:sym typeface="Malgun Gothic"/>
              </a:rPr>
              <a:t>TTIFOS </a:t>
            </a:r>
            <a:endParaRPr lang="ko-KR" altLang="en-US" sz="16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Google Shape;225;p6">
            <a:extLst>
              <a:ext uri="{FF2B5EF4-FFF2-40B4-BE49-F238E27FC236}">
                <a16:creationId xmlns:a16="http://schemas.microsoft.com/office/drawing/2014/main" id="{B8BB9A23-1D78-1565-4575-B5FDA704C8DF}"/>
              </a:ext>
            </a:extLst>
          </p:cNvPr>
          <p:cNvSpPr txBox="1"/>
          <p:nvPr/>
        </p:nvSpPr>
        <p:spPr>
          <a:xfrm>
            <a:off x="924828" y="4967974"/>
            <a:ext cx="879240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■ </a:t>
            </a:r>
            <a:r>
              <a:rPr lang="ko-KR" altLang="en-US" sz="1600" b="1" dirty="0">
                <a:solidFill>
                  <a:schemeClr val="dk1"/>
                </a:solidFill>
                <a:latin typeface="+mn-ea"/>
                <a:cs typeface="Malgun Gothic"/>
                <a:sym typeface="Malgun Gothic"/>
              </a:rPr>
              <a:t>소켓 통신 프로그래밍의 이해</a:t>
            </a:r>
            <a:r>
              <a:rPr lang="en-US" altLang="ko-KR" sz="1600" b="1" dirty="0">
                <a:solidFill>
                  <a:schemeClr val="dk1"/>
                </a:solidFill>
                <a:latin typeface="+mn-ea"/>
                <a:cs typeface="Malgun Gothic"/>
                <a:sym typeface="Malgun Gothic"/>
              </a:rPr>
              <a:t>(TCP/UDP)</a:t>
            </a:r>
            <a:endParaRPr lang="ko-KR" altLang="en-US" sz="16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9A6F22-38CF-146B-DDA1-8B0D655B2B59}"/>
              </a:ext>
            </a:extLst>
          </p:cNvPr>
          <p:cNvSpPr txBox="1"/>
          <p:nvPr/>
        </p:nvSpPr>
        <p:spPr>
          <a:xfrm>
            <a:off x="5768974" y="3866558"/>
            <a:ext cx="610235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Node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Bef>
                <a:spcPts val="800"/>
              </a:spcBef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Queue</a:t>
            </a:r>
          </a:p>
          <a:p>
            <a:pPr>
              <a:spcBef>
                <a:spcPts val="800"/>
              </a:spcBef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Sort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삽입 정렬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080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B2E7E4-10C1-E2C7-EEC2-EF2E20E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80859-85B4-ED39-1444-9CFFD33D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315FE066-0AEA-971A-DD8E-899E7890BBAA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EE63-5C51-417E-3B38-00A7CC295359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1 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목표</a:t>
            </a:r>
          </a:p>
        </p:txBody>
      </p:sp>
      <p:pic>
        <p:nvPicPr>
          <p:cNvPr id="6" name="그래픽 4">
            <a:extLst>
              <a:ext uri="{FF2B5EF4-FFF2-40B4-BE49-F238E27FC236}">
                <a16:creationId xmlns:a16="http://schemas.microsoft.com/office/drawing/2014/main" id="{A29E74A8-A05E-69CA-0764-6C9930D70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A9CAA3-5D12-A1F8-29A4-931A79A76AC6}"/>
              </a:ext>
            </a:extLst>
          </p:cNvPr>
          <p:cNvSpPr txBox="1"/>
          <p:nvPr/>
        </p:nvSpPr>
        <p:spPr>
          <a:xfrm>
            <a:off x="504408" y="778610"/>
            <a:ext cx="6000988" cy="420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ko-KR" altLang="en-US" sz="18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일정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808572-2F98-B14B-2778-4A119D39D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86548"/>
              </p:ext>
            </p:extLst>
          </p:nvPr>
        </p:nvGraphicFramePr>
        <p:xfrm>
          <a:off x="844550" y="1291096"/>
          <a:ext cx="10839451" cy="5041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3695827629"/>
                    </a:ext>
                  </a:extLst>
                </a:gridCol>
                <a:gridCol w="5505450">
                  <a:extLst>
                    <a:ext uri="{9D8B030D-6E8A-4147-A177-3AD203B41FA5}">
                      <a16:colId xmlns:a16="http://schemas.microsoft.com/office/drawing/2014/main" val="223610237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285753902"/>
                    </a:ext>
                  </a:extLst>
                </a:gridCol>
                <a:gridCol w="1409701">
                  <a:extLst>
                    <a:ext uri="{9D8B030D-6E8A-4147-A177-3AD203B41FA5}">
                      <a16:colId xmlns:a16="http://schemas.microsoft.com/office/drawing/2014/main" val="4174943099"/>
                    </a:ext>
                  </a:extLst>
                </a:gridCol>
              </a:tblGrid>
              <a:tr h="54617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  <a:endParaRPr 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학습 개요</a:t>
                      </a:r>
                      <a:endParaRPr 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담당부서</a:t>
                      </a:r>
                      <a:endParaRPr 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특이 사항 </a:t>
                      </a:r>
                      <a:endPara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413788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 </a:t>
                      </a:r>
                      <a:endParaRPr lang="en-US" altLang="ko-KR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(11. 01 ~ 11. 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기업 및 업무 소개</a:t>
                      </a:r>
                      <a:endParaRPr lang="en-US" altLang="ko-KR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- 4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 보험 교육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지원관리팀 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260353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주차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(11. 06 ~ 11. 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예제 소스 코드 분석                                  </a:t>
                      </a:r>
                      <a:endParaRPr lang="en-US" altLang="ko-KR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예제 소스 코드 확장 기능 개발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Leo</a:t>
                      </a:r>
                      <a:r>
                        <a:rPr lang="ko-KR" altLang="en-US" sz="10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출장</a:t>
                      </a:r>
                      <a:b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10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* SWPF Glen PRO </a:t>
                      </a:r>
                      <a:br>
                        <a:rPr lang="en-US" altLang="ko-KR" sz="10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0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임시 멘토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484322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주차 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(11. 13 ~ 11. 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ETTIFOS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소개                                   </a:t>
                      </a:r>
                      <a:b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11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 * CV2X / DSRC / C-ITS / OBU / RSU </a:t>
                      </a:r>
                      <a:r>
                        <a:rPr lang="ko-KR" altLang="en-US" sz="11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 </a:t>
                      </a:r>
                      <a:r>
                        <a:rPr lang="en-US" altLang="ko-KR" sz="11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ETTIFOS</a:t>
                      </a:r>
                      <a:r>
                        <a:rPr lang="ko-KR" altLang="en-US" sz="11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업무 중 기술 내용 학습</a:t>
                      </a:r>
                      <a:br>
                        <a:rPr lang="en-US" altLang="ko-KR" sz="11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endParaRPr lang="en-US" altLang="ko-KR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통신 기술에 대한 이해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(TCP/UDP)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973531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주차 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(11. 20 ~ 11. 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TCP/UDP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예제 코드를 통한 소켓 프로그래밍</a:t>
                      </a:r>
                      <a:endParaRPr lang="en-US" altLang="ko-KR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소켓 프로그래밍을 활용한 랭킹 시스템 개발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271497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주차 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(11. 27 ~ 11. 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최종 발표 자료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345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127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10" name="그래픽 4">
            <a:extLst>
              <a:ext uri="{FF2B5EF4-FFF2-40B4-BE49-F238E27FC236}">
                <a16:creationId xmlns:a16="http://schemas.microsoft.com/office/drawing/2014/main" id="{E0F7CCAE-D808-485D-847E-271A70629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pic>
        <p:nvPicPr>
          <p:cNvPr id="1034" name="Picture 10" descr="V2X On-Board Unit - iWave Systems">
            <a:extLst>
              <a:ext uri="{FF2B5EF4-FFF2-40B4-BE49-F238E27FC236}">
                <a16:creationId xmlns:a16="http://schemas.microsoft.com/office/drawing/2014/main" id="{7BF3D97A-B5BE-08D4-23C5-2DB2086F6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089" y="1237145"/>
            <a:ext cx="4155412" cy="363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684E0B-0F23-1B97-0883-88D482740040}"/>
              </a:ext>
            </a:extLst>
          </p:cNvPr>
          <p:cNvSpPr txBox="1"/>
          <p:nvPr/>
        </p:nvSpPr>
        <p:spPr>
          <a:xfrm>
            <a:off x="5938044" y="1475636"/>
            <a:ext cx="339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V2X 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통신이란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?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C6036-C0EA-D28F-A914-6CAB1F9E1C61}"/>
              </a:ext>
            </a:extLst>
          </p:cNvPr>
          <p:cNvSpPr txBox="1"/>
          <p:nvPr/>
        </p:nvSpPr>
        <p:spPr>
          <a:xfrm>
            <a:off x="6096000" y="2132330"/>
            <a:ext cx="56921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Vehicle-to-Everything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의 약어로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자동차와 </a:t>
            </a:r>
            <a:r>
              <a:rPr lang="ko-KR" altLang="en-US" sz="1200" b="1" dirty="0">
                <a:solidFill>
                  <a:srgbClr val="EE6C6C"/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모든 것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간의 통신을 나타냅니다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.</a:t>
            </a: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V2V(Vehicle-to-Vehicle) :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자동차 간 통신을 의미합니다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V2I(Vehicle-to-Infrastructure) :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차량과 도로 인프라 간의 통신을 의미합니다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V2P(Vehicle-to-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Pedestrain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) :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차량과 보행자 간의 통신을 나타냅니다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. </a:t>
            </a:r>
          </a:p>
          <a:p>
            <a:pPr marL="228600" indent="-228600">
              <a:buFont typeface="+mj-lt"/>
              <a:buAutoNum type="arabicPeriod"/>
            </a:pP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V2N(Vehicle-to-Network) :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차량과 통신 네트워크 간의 통신을 의미합니다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6B8ED0-833D-FB5E-F615-EF924E52221C}"/>
              </a:ext>
            </a:extLst>
          </p:cNvPr>
          <p:cNvSpPr txBox="1"/>
          <p:nvPr/>
        </p:nvSpPr>
        <p:spPr>
          <a:xfrm>
            <a:off x="1662476" y="5299768"/>
            <a:ext cx="8956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이처럼 </a:t>
            </a: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V2X </a:t>
            </a:r>
            <a:r>
              <a:rPr lang="ko-KR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기술은 자율 주행차만 아니라 교통 </a:t>
            </a:r>
            <a:r>
              <a:rPr lang="ko-KR" altLang="en-US" sz="2400" b="1" dirty="0">
                <a:solidFill>
                  <a:srgbClr val="EE6C6C"/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안전성</a:t>
            </a:r>
            <a:r>
              <a:rPr lang="ko-KR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과 </a:t>
            </a:r>
            <a:r>
              <a:rPr lang="ko-KR" altLang="en-US" sz="2400" b="1" dirty="0">
                <a:solidFill>
                  <a:srgbClr val="EE6C6C"/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효율성</a:t>
            </a:r>
            <a:r>
              <a:rPr lang="ko-KR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을 향상시키는 데 중요한 역할을 합니다</a:t>
            </a: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7064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10" name="그래픽 4">
            <a:extLst>
              <a:ext uri="{FF2B5EF4-FFF2-40B4-BE49-F238E27FC236}">
                <a16:creationId xmlns:a16="http://schemas.microsoft.com/office/drawing/2014/main" id="{E0F7CCAE-D808-485D-847E-271A70629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9C6036-C0EA-D28F-A914-6CAB1F9E1C61}"/>
              </a:ext>
            </a:extLst>
          </p:cNvPr>
          <p:cNvSpPr txBox="1"/>
          <p:nvPr/>
        </p:nvSpPr>
        <p:spPr>
          <a:xfrm>
            <a:off x="880466" y="5136455"/>
            <a:ext cx="108606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DSRC(Dedicated Short-Range Communication) : 5.9GHz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주파수 대역을 사용하여 짧은 거리에서 차량 간 통신을 위한 표준화된 무선 통신 기술입니다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C-V2X(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Celluar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Vehicle-to-Everything) :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셀룰러 네트워크를 통해 차량과 모든 것 간의 통신을 가능하게 하는 기술입니다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.</a:t>
            </a:r>
          </a:p>
        </p:txBody>
      </p:sp>
      <p:pic>
        <p:nvPicPr>
          <p:cNvPr id="2050" name="Picture 2" descr="DSRC vs. C-V2X: Understanding the Two Technologies">
            <a:extLst>
              <a:ext uri="{FF2B5EF4-FFF2-40B4-BE49-F238E27FC236}">
                <a16:creationId xmlns:a16="http://schemas.microsoft.com/office/drawing/2014/main" id="{62E4D424-F2BC-D6B2-D9DB-0C0CBC835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358" y="1629509"/>
            <a:ext cx="5414169" cy="3048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515DFE-0EA8-14C4-96A5-847291CE9D92}"/>
              </a:ext>
            </a:extLst>
          </p:cNvPr>
          <p:cNvSpPr txBox="1"/>
          <p:nvPr/>
        </p:nvSpPr>
        <p:spPr>
          <a:xfrm>
            <a:off x="403887" y="944087"/>
            <a:ext cx="339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DSRC &amp; C-V2X 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78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10" name="그래픽 4">
            <a:extLst>
              <a:ext uri="{FF2B5EF4-FFF2-40B4-BE49-F238E27FC236}">
                <a16:creationId xmlns:a16="http://schemas.microsoft.com/office/drawing/2014/main" id="{E0F7CCAE-D808-485D-847E-271A70629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pic>
        <p:nvPicPr>
          <p:cNvPr id="2" name="그림 12">
            <a:extLst>
              <a:ext uri="{FF2B5EF4-FFF2-40B4-BE49-F238E27FC236}">
                <a16:creationId xmlns:a16="http://schemas.microsoft.com/office/drawing/2014/main" id="{D4F252B7-3594-47C4-0631-AD7F21B26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035" y="1405752"/>
            <a:ext cx="8725064" cy="49676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BD05E4-417D-CF5E-77A1-A17D778C6AA7}"/>
              </a:ext>
            </a:extLst>
          </p:cNvPr>
          <p:cNvSpPr txBox="1"/>
          <p:nvPr/>
        </p:nvSpPr>
        <p:spPr>
          <a:xfrm>
            <a:off x="403887" y="944087"/>
            <a:ext cx="339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DSRC &amp; C-V2X 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비교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921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10" name="그래픽 4">
            <a:extLst>
              <a:ext uri="{FF2B5EF4-FFF2-40B4-BE49-F238E27FC236}">
                <a16:creationId xmlns:a16="http://schemas.microsoft.com/office/drawing/2014/main" id="{E0F7CCAE-D808-485D-847E-271A70629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1E66F1-54DC-3F63-0C3B-10808151EF7F}"/>
              </a:ext>
            </a:extLst>
          </p:cNvPr>
          <p:cNvSpPr txBox="1"/>
          <p:nvPr/>
        </p:nvSpPr>
        <p:spPr>
          <a:xfrm>
            <a:off x="350044" y="956190"/>
            <a:ext cx="339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C-ITS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란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?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pic>
        <p:nvPicPr>
          <p:cNvPr id="4098" name="Picture 2" descr="C-ITS(Cooperative-Intelligent Transport Systems) 필요성">
            <a:extLst>
              <a:ext uri="{FF2B5EF4-FFF2-40B4-BE49-F238E27FC236}">
                <a16:creationId xmlns:a16="http://schemas.microsoft.com/office/drawing/2014/main" id="{7904156A-2754-B501-9DA4-8559E73EA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557" y="3429000"/>
            <a:ext cx="7450885" cy="24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3FA34A-4856-C9CE-F979-3E3BDC321A0C}"/>
              </a:ext>
            </a:extLst>
          </p:cNvPr>
          <p:cNvSpPr txBox="1"/>
          <p:nvPr/>
        </p:nvSpPr>
        <p:spPr>
          <a:xfrm>
            <a:off x="642252" y="1694346"/>
            <a:ext cx="9511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Cooperative Intelligent Transport Systems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의 약자로 협력적인 지능형 교통 시스템을 나타내며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, </a:t>
            </a:r>
            <a:r>
              <a:rPr lang="ko-KR" altLang="en-US" b="1" dirty="0">
                <a:solidFill>
                  <a:srgbClr val="EE6C6C"/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도로 안전성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, </a:t>
            </a:r>
            <a:r>
              <a:rPr lang="ko-KR" altLang="en-US" b="1" dirty="0">
                <a:solidFill>
                  <a:srgbClr val="EE6C6C"/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교통 효율성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,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그리고 </a:t>
            </a:r>
            <a:r>
              <a:rPr lang="ko-KR" altLang="en-US" b="1" dirty="0">
                <a:solidFill>
                  <a:srgbClr val="EE6C6C"/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운전자의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ko-KR" altLang="en-US" b="1" dirty="0">
                <a:solidFill>
                  <a:srgbClr val="EE6C6C"/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편의성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을 향상시키는 데 중점을 둔 기술과 시스템을 말합니다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2597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B2E7E4-10C1-E2C7-EEC2-EF2E20E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Ettifos Confidential</a:t>
            </a: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80859-85B4-ED39-1444-9CFFD33D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9</a:t>
            </a:fld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315FE066-0AEA-971A-DD8E-899E7890BBAA}"/>
              </a:ext>
            </a:extLst>
          </p:cNvPr>
          <p:cNvSpPr/>
          <p:nvPr/>
        </p:nvSpPr>
        <p:spPr>
          <a:xfrm>
            <a:off x="0" y="0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EE63-5C51-417E-3B38-00A7CC295359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6" name="그래픽 4">
            <a:extLst>
              <a:ext uri="{FF2B5EF4-FFF2-40B4-BE49-F238E27FC236}">
                <a16:creationId xmlns:a16="http://schemas.microsoft.com/office/drawing/2014/main" id="{A29E74A8-A05E-69CA-0764-6C9930D70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BEA2427-7006-247D-2736-0793AA9D5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44" y="928265"/>
            <a:ext cx="5470931" cy="37865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220D54-B70B-5891-1FEC-F9D3CEC09EBA}"/>
              </a:ext>
            </a:extLst>
          </p:cNvPr>
          <p:cNvSpPr txBox="1"/>
          <p:nvPr/>
        </p:nvSpPr>
        <p:spPr>
          <a:xfrm>
            <a:off x="6096000" y="1363770"/>
            <a:ext cx="165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프로젝트 소개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  <a:cs typeface="Noto Sans" panose="020B05020405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3DC9C8-AE76-E40D-F099-91E9347F619D}"/>
              </a:ext>
            </a:extLst>
          </p:cNvPr>
          <p:cNvSpPr txBox="1"/>
          <p:nvPr/>
        </p:nvSpPr>
        <p:spPr>
          <a:xfrm>
            <a:off x="6317184" y="1742116"/>
            <a:ext cx="6102350" cy="703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개요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Snake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게임을 이용한 서버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클라이언트 구조의 랭킹 시스템 구현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Ubuntu, C,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ncurses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lib, TCP etc.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0EADB5-1760-E189-0FC5-B629D6BB8084}"/>
              </a:ext>
            </a:extLst>
          </p:cNvPr>
          <p:cNvSpPr txBox="1"/>
          <p:nvPr/>
        </p:nvSpPr>
        <p:spPr>
          <a:xfrm>
            <a:off x="2239301" y="4828386"/>
            <a:ext cx="1713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주요 구성 요소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  <a:cs typeface="Noto Sans" panose="020B0502040504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B1922C-3105-FFFF-7C6D-7C7223F8D4F0}"/>
              </a:ext>
            </a:extLst>
          </p:cNvPr>
          <p:cNvSpPr txBox="1"/>
          <p:nvPr/>
        </p:nvSpPr>
        <p:spPr>
          <a:xfrm>
            <a:off x="2335658" y="5279695"/>
            <a:ext cx="5904393" cy="1349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Doubly Linked List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Queue :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뱀의 몸통을 표현하기 위한 자료구조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로직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뱀의 이동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아이템 출현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충돌 검사 등의 게임 기본 로직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게임의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mode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로직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mode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통해서 뱀 게임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종료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랭킹 시스템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서버 통신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TCP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소켓을 이용한 서버와의 통신 구현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722D18-F924-3FB3-8CED-E1D0AFD9876A}"/>
              </a:ext>
            </a:extLst>
          </p:cNvPr>
          <p:cNvSpPr txBox="1"/>
          <p:nvPr/>
        </p:nvSpPr>
        <p:spPr>
          <a:xfrm>
            <a:off x="6127750" y="2701989"/>
            <a:ext cx="1184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게임 설명</a:t>
            </a:r>
            <a:endParaRPr lang="en-US" sz="2000" b="1" dirty="0">
              <a:latin typeface="Noto Sans KR" panose="020B0200000000000000" pitchFamily="50" charset="-127"/>
              <a:ea typeface="Noto Sans KR" panose="020B0200000000000000" pitchFamily="50" charset="-127"/>
              <a:cs typeface="Noto Sans" panose="020B050204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D85CA-6A03-7DAA-FF14-75955174E9B7}"/>
              </a:ext>
            </a:extLst>
          </p:cNvPr>
          <p:cNvSpPr txBox="1"/>
          <p:nvPr/>
        </p:nvSpPr>
        <p:spPr>
          <a:xfrm>
            <a:off x="6317184" y="3047942"/>
            <a:ext cx="5874816" cy="377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목표 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: 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조작키를 이용해 아이템 습득 시 길이가 늘어나며 가장 높은 점수를 획득</a:t>
            </a:r>
            <a:endParaRPr lang="en-US" sz="1400" b="1" dirty="0">
              <a:latin typeface="Noto Sans KR" panose="020B0200000000000000" pitchFamily="50" charset="-127"/>
              <a:ea typeface="Noto Sans KR" panose="020B0200000000000000" pitchFamily="50" charset="-127"/>
              <a:cs typeface="Noto Sans" panose="020B0502040504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43A639-55F2-5B13-B086-F67F77F34B1F}"/>
              </a:ext>
            </a:extLst>
          </p:cNvPr>
          <p:cNvGrpSpPr/>
          <p:nvPr/>
        </p:nvGrpSpPr>
        <p:grpSpPr>
          <a:xfrm>
            <a:off x="8762406" y="3560783"/>
            <a:ext cx="1695785" cy="1341678"/>
            <a:chOff x="8908715" y="4160728"/>
            <a:chExt cx="1695785" cy="13416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613DE7-FFA3-247C-28B9-81F40E47B96B}"/>
                </a:ext>
              </a:extLst>
            </p:cNvPr>
            <p:cNvSpPr txBox="1"/>
            <p:nvPr/>
          </p:nvSpPr>
          <p:spPr>
            <a:xfrm>
              <a:off x="9279553" y="5133074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Noto Sans" panose="020B0502040504020204" pitchFamily="34" charset="0"/>
                </a:rPr>
                <a:t>조작키</a:t>
              </a:r>
              <a:endParaRPr lang="en-US" b="1" dirty="0"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3E9692A-E043-EF3D-1CDA-BEF3CBBAE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08715" y="4160728"/>
              <a:ext cx="1695785" cy="9494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6361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276289" y="103082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AA44AE5-F02A-4D73-A68C-74A4A784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DE918F-2CCA-7D5B-1B3E-345CFDA2EAA9}"/>
              </a:ext>
            </a:extLst>
          </p:cNvPr>
          <p:cNvSpPr txBox="1"/>
          <p:nvPr/>
        </p:nvSpPr>
        <p:spPr>
          <a:xfrm>
            <a:off x="350044" y="1007008"/>
            <a:ext cx="339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Transport Layer?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A8175-ADD8-54C8-11B4-FDBFE77DC1BA}"/>
              </a:ext>
            </a:extLst>
          </p:cNvPr>
          <p:cNvSpPr txBox="1"/>
          <p:nvPr/>
        </p:nvSpPr>
        <p:spPr>
          <a:xfrm>
            <a:off x="771525" y="1565749"/>
            <a:ext cx="7564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End Point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간 </a:t>
            </a:r>
            <a:r>
              <a:rPr lang="ko-KR" altLang="en-US" b="1" dirty="0">
                <a:solidFill>
                  <a:srgbClr val="F15959"/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신뢰성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있는 데이터 </a:t>
            </a:r>
            <a:r>
              <a:rPr lang="ko-KR" altLang="en-US" b="1" dirty="0">
                <a:solidFill>
                  <a:srgbClr val="F15959"/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전송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을 담당하는 계층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FB60E6D-CE88-4A1B-9A5A-BA3C54912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965" y="2283613"/>
            <a:ext cx="6398895" cy="352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287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276289" y="103082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AA44AE5-F02A-4D73-A68C-74A4A784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DE918F-2CCA-7D5B-1B3E-345CFDA2EAA9}"/>
              </a:ext>
            </a:extLst>
          </p:cNvPr>
          <p:cNvSpPr txBox="1"/>
          <p:nvPr/>
        </p:nvSpPr>
        <p:spPr>
          <a:xfrm>
            <a:off x="350044" y="1007008"/>
            <a:ext cx="339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전송 계층의 중요성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04D40-15ED-FAA4-34D3-EF67A05ADEDC}"/>
              </a:ext>
            </a:extLst>
          </p:cNvPr>
          <p:cNvSpPr txBox="1"/>
          <p:nvPr/>
        </p:nvSpPr>
        <p:spPr>
          <a:xfrm>
            <a:off x="642253" y="1694346"/>
            <a:ext cx="368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데이터의 순차 전송이 원활히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CCD201-FAE5-EE75-29CC-3D2A844A782D}"/>
              </a:ext>
            </a:extLst>
          </p:cNvPr>
          <p:cNvSpPr txBox="1"/>
          <p:nvPr/>
        </p:nvSpPr>
        <p:spPr>
          <a:xfrm>
            <a:off x="642253" y="2558516"/>
            <a:ext cx="368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Flow 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흐름 문제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D0871F-C801-A0A4-A604-DB929218C9FD}"/>
              </a:ext>
            </a:extLst>
          </p:cNvPr>
          <p:cNvSpPr txBox="1"/>
          <p:nvPr/>
        </p:nvSpPr>
        <p:spPr>
          <a:xfrm>
            <a:off x="642253" y="3683813"/>
            <a:ext cx="368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Congestion 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혼잡 문제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9A6971D-CE7F-50EE-7890-F03AA44AC5A4}"/>
              </a:ext>
            </a:extLst>
          </p:cNvPr>
          <p:cNvGrpSpPr/>
          <p:nvPr/>
        </p:nvGrpSpPr>
        <p:grpSpPr>
          <a:xfrm>
            <a:off x="5650552" y="1725124"/>
            <a:ext cx="1919842" cy="338554"/>
            <a:chOff x="2341616" y="2823367"/>
            <a:chExt cx="1919842" cy="338554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080FE27E-DE29-F0C4-31BA-570EE8157C7C}"/>
                </a:ext>
              </a:extLst>
            </p:cNvPr>
            <p:cNvGrpSpPr/>
            <p:nvPr/>
          </p:nvGrpSpPr>
          <p:grpSpPr>
            <a:xfrm>
              <a:off x="2410803" y="2827227"/>
              <a:ext cx="1850655" cy="317056"/>
              <a:chOff x="2180477" y="2819400"/>
              <a:chExt cx="1850655" cy="317056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CF697921-6AD4-467B-3881-2F228D902351}"/>
                  </a:ext>
                </a:extLst>
              </p:cNvPr>
              <p:cNvSpPr/>
              <p:nvPr/>
            </p:nvSpPr>
            <p:spPr>
              <a:xfrm>
                <a:off x="3413760" y="2819400"/>
                <a:ext cx="617372" cy="317056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EBC2535-00C9-C669-6689-475AD05BE02E}"/>
                  </a:ext>
                </a:extLst>
              </p:cNvPr>
              <p:cNvSpPr/>
              <p:nvPr/>
            </p:nvSpPr>
            <p:spPr>
              <a:xfrm>
                <a:off x="2796388" y="2819400"/>
                <a:ext cx="617372" cy="317056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E4F1444D-81B8-446E-8E72-19E1D1CFEE5E}"/>
                  </a:ext>
                </a:extLst>
              </p:cNvPr>
              <p:cNvSpPr/>
              <p:nvPr/>
            </p:nvSpPr>
            <p:spPr>
              <a:xfrm>
                <a:off x="2180477" y="2819400"/>
                <a:ext cx="617372" cy="317056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3334CF2-776E-3CBC-66B9-0BD62E04F4C8}"/>
                </a:ext>
              </a:extLst>
            </p:cNvPr>
            <p:cNvSpPr txBox="1"/>
            <p:nvPr/>
          </p:nvSpPr>
          <p:spPr>
            <a:xfrm>
              <a:off x="3638780" y="2823367"/>
              <a:ext cx="6173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3</a:t>
              </a:r>
              <a:endParaRPr lang="ko-KR" altLang="en-US" sz="1600" b="1" dirty="0">
                <a:solidFill>
                  <a:schemeClr val="bg1"/>
                </a:solidFill>
                <a:latin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00905B-A08E-6E17-3567-4AE48BB2BF71}"/>
                </a:ext>
              </a:extLst>
            </p:cNvPr>
            <p:cNvSpPr txBox="1"/>
            <p:nvPr/>
          </p:nvSpPr>
          <p:spPr>
            <a:xfrm>
              <a:off x="2958988" y="2823367"/>
              <a:ext cx="742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2</a:t>
              </a:r>
              <a:endParaRPr lang="ko-KR" altLang="en-US" sz="1600" b="1" dirty="0">
                <a:solidFill>
                  <a:schemeClr val="bg1"/>
                </a:solidFill>
                <a:latin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32F126D-B690-C26A-69C6-C7F3F58BC542}"/>
                </a:ext>
              </a:extLst>
            </p:cNvPr>
            <p:cNvSpPr txBox="1"/>
            <p:nvPr/>
          </p:nvSpPr>
          <p:spPr>
            <a:xfrm>
              <a:off x="2341616" y="2823367"/>
              <a:ext cx="742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1</a:t>
              </a:r>
              <a:endParaRPr lang="ko-KR" altLang="en-US" sz="1600" b="1" dirty="0">
                <a:solidFill>
                  <a:schemeClr val="bg1"/>
                </a:solidFill>
                <a:latin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53435D2-9160-54C3-64C9-C994877F4BAB}"/>
              </a:ext>
            </a:extLst>
          </p:cNvPr>
          <p:cNvGrpSpPr/>
          <p:nvPr/>
        </p:nvGrpSpPr>
        <p:grpSpPr>
          <a:xfrm>
            <a:off x="9177662" y="1732883"/>
            <a:ext cx="1919842" cy="338554"/>
            <a:chOff x="2341616" y="2823367"/>
            <a:chExt cx="1919842" cy="338554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C489B100-F03C-D7F7-C282-6EF637D900AB}"/>
                </a:ext>
              </a:extLst>
            </p:cNvPr>
            <p:cNvGrpSpPr/>
            <p:nvPr/>
          </p:nvGrpSpPr>
          <p:grpSpPr>
            <a:xfrm>
              <a:off x="2410803" y="2827227"/>
              <a:ext cx="1850655" cy="317056"/>
              <a:chOff x="2180477" y="2819400"/>
              <a:chExt cx="1850655" cy="317056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9243C10C-065A-71FB-87A8-D6D64A32D9B5}"/>
                  </a:ext>
                </a:extLst>
              </p:cNvPr>
              <p:cNvSpPr/>
              <p:nvPr/>
            </p:nvSpPr>
            <p:spPr>
              <a:xfrm>
                <a:off x="3413760" y="2819400"/>
                <a:ext cx="617372" cy="317056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31EB040C-8E09-549F-F6D4-855A71B6D3EF}"/>
                  </a:ext>
                </a:extLst>
              </p:cNvPr>
              <p:cNvSpPr/>
              <p:nvPr/>
            </p:nvSpPr>
            <p:spPr>
              <a:xfrm>
                <a:off x="2796388" y="2819400"/>
                <a:ext cx="617372" cy="317056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893A4ACA-CA8A-9149-C245-8152F532DEB9}"/>
                  </a:ext>
                </a:extLst>
              </p:cNvPr>
              <p:cNvSpPr/>
              <p:nvPr/>
            </p:nvSpPr>
            <p:spPr>
              <a:xfrm>
                <a:off x="2180477" y="2819400"/>
                <a:ext cx="617372" cy="317056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64EA836-CE56-FF38-750C-45E63D9B0A4E}"/>
                </a:ext>
              </a:extLst>
            </p:cNvPr>
            <p:cNvSpPr txBox="1"/>
            <p:nvPr/>
          </p:nvSpPr>
          <p:spPr>
            <a:xfrm>
              <a:off x="3638780" y="2823367"/>
              <a:ext cx="6173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1</a:t>
              </a:r>
              <a:endParaRPr lang="ko-KR" altLang="en-US" sz="1600" b="1" dirty="0">
                <a:solidFill>
                  <a:schemeClr val="bg1"/>
                </a:solidFill>
                <a:latin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575D763-607E-BF91-13C3-DC403DDD0A0A}"/>
                </a:ext>
              </a:extLst>
            </p:cNvPr>
            <p:cNvSpPr txBox="1"/>
            <p:nvPr/>
          </p:nvSpPr>
          <p:spPr>
            <a:xfrm>
              <a:off x="2958988" y="2823367"/>
              <a:ext cx="742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3</a:t>
              </a:r>
              <a:endParaRPr lang="ko-KR" altLang="en-US" sz="1600" b="1" dirty="0">
                <a:solidFill>
                  <a:schemeClr val="bg1"/>
                </a:solidFill>
                <a:latin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46CD8E9-6CBF-469B-84D7-2262D9EEA25F}"/>
                </a:ext>
              </a:extLst>
            </p:cNvPr>
            <p:cNvSpPr txBox="1"/>
            <p:nvPr/>
          </p:nvSpPr>
          <p:spPr>
            <a:xfrm>
              <a:off x="2341616" y="2823367"/>
              <a:ext cx="742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2</a:t>
              </a:r>
              <a:endParaRPr lang="ko-KR" altLang="en-US" sz="1600" b="1" dirty="0">
                <a:solidFill>
                  <a:schemeClr val="bg1"/>
                </a:solidFill>
                <a:latin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1F99AEAD-B802-30B8-449A-8BDC478CC51A}"/>
              </a:ext>
            </a:extLst>
          </p:cNvPr>
          <p:cNvSpPr/>
          <p:nvPr/>
        </p:nvSpPr>
        <p:spPr>
          <a:xfrm>
            <a:off x="7879080" y="1704949"/>
            <a:ext cx="1021080" cy="365125"/>
          </a:xfrm>
          <a:prstGeom prst="rightArrow">
            <a:avLst/>
          </a:prstGeom>
          <a:solidFill>
            <a:srgbClr val="66FF99"/>
          </a:solidFill>
          <a:ln>
            <a:solidFill>
              <a:srgbClr val="66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66FF99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C39646-7110-378B-1199-96589D3FAD6C}"/>
              </a:ext>
            </a:extLst>
          </p:cNvPr>
          <p:cNvSpPr txBox="1"/>
          <p:nvPr/>
        </p:nvSpPr>
        <p:spPr>
          <a:xfrm>
            <a:off x="901333" y="3078629"/>
            <a:ext cx="3685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원인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: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송수신자 간의 데이터 처리 속도 차이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DD3334-CF6E-9624-D371-4D7B910D579C}"/>
              </a:ext>
            </a:extLst>
          </p:cNvPr>
          <p:cNvSpPr txBox="1"/>
          <p:nvPr/>
        </p:nvSpPr>
        <p:spPr>
          <a:xfrm>
            <a:off x="901332" y="4196663"/>
            <a:ext cx="4089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원인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: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네트워크 데이터 처리 속도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(ex.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라우터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)</a:t>
            </a:r>
          </a:p>
        </p:txBody>
      </p:sp>
      <p:pic>
        <p:nvPicPr>
          <p:cNvPr id="31" name="그림 30" descr="블랙, 어둠이(가) 표시된 사진&#10;&#10;자동 생성된 설명">
            <a:extLst>
              <a:ext uri="{FF2B5EF4-FFF2-40B4-BE49-F238E27FC236}">
                <a16:creationId xmlns:a16="http://schemas.microsoft.com/office/drawing/2014/main" id="{90235700-1416-F6E9-BD5C-55B33B76E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380" y="2799082"/>
            <a:ext cx="856521" cy="85652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2A51697-D89C-612D-3D07-2F475ABB6F84}"/>
              </a:ext>
            </a:extLst>
          </p:cNvPr>
          <p:cNvSpPr txBox="1"/>
          <p:nvPr/>
        </p:nvSpPr>
        <p:spPr>
          <a:xfrm>
            <a:off x="6157173" y="3532492"/>
            <a:ext cx="718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수신자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826838-5F87-31B1-BF9E-F565304F548A}"/>
              </a:ext>
            </a:extLst>
          </p:cNvPr>
          <p:cNvSpPr txBox="1"/>
          <p:nvPr/>
        </p:nvSpPr>
        <p:spPr>
          <a:xfrm>
            <a:off x="7130361" y="3178645"/>
            <a:ext cx="3685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가 처리할 수 있는 데이터 초과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pic>
        <p:nvPicPr>
          <p:cNvPr id="3074" name="Picture 2" descr="네트워크 개념 잡기">
            <a:extLst>
              <a:ext uri="{FF2B5EF4-FFF2-40B4-BE49-F238E27FC236}">
                <a16:creationId xmlns:a16="http://schemas.microsoft.com/office/drawing/2014/main" id="{26CED833-DAAD-2A9B-E363-6DCF1D386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378" y="4350551"/>
            <a:ext cx="856522" cy="85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C2121B4-B2E9-26EE-4A78-3583DA9BA9DA}"/>
              </a:ext>
            </a:extLst>
          </p:cNvPr>
          <p:cNvSpPr txBox="1"/>
          <p:nvPr/>
        </p:nvSpPr>
        <p:spPr>
          <a:xfrm>
            <a:off x="6072823" y="5207073"/>
            <a:ext cx="973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네트워크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C74A8B-4121-21B8-392B-38608615A5C9}"/>
              </a:ext>
            </a:extLst>
          </p:cNvPr>
          <p:cNvSpPr txBox="1"/>
          <p:nvPr/>
        </p:nvSpPr>
        <p:spPr>
          <a:xfrm>
            <a:off x="7115924" y="4765586"/>
            <a:ext cx="1250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가 혼잡할 때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948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276289" y="108317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AA44AE5-F02A-4D73-A68C-74A4A784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2050" name="Picture 2" descr="네트워크/통신] 소켓이란? TCP와 UDP, 소켓통신의 흐름">
            <a:extLst>
              <a:ext uri="{FF2B5EF4-FFF2-40B4-BE49-F238E27FC236}">
                <a16:creationId xmlns:a16="http://schemas.microsoft.com/office/drawing/2014/main" id="{4F2CA2E6-8209-59F3-48D7-A61C23B2D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208" y="1258902"/>
            <a:ext cx="4449762" cy="467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237F2D-F1C9-045A-5794-8A58D78DB9CE}"/>
              </a:ext>
            </a:extLst>
          </p:cNvPr>
          <p:cNvSpPr txBox="1"/>
          <p:nvPr/>
        </p:nvSpPr>
        <p:spPr>
          <a:xfrm>
            <a:off x="6971530" y="1782792"/>
            <a:ext cx="50087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socket()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함수를 이용하여 소켓을 생성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bind()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함수로 </a:t>
            </a:r>
            <a:r>
              <a:rPr lang="en-US" altLang="ko-KR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ip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와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port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번호를 설정하게 됩니다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listen()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함수로 클라이언트의 접근 요청에 수신 대기열을 만들어 몇 개의 클라이언트를 대기 시킬지 결정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accept()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함수를 사용하여 클라이언트와 연결을 기다림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8B4501-B543-000D-01E2-9AB9E96D4DDC}"/>
              </a:ext>
            </a:extLst>
          </p:cNvPr>
          <p:cNvSpPr txBox="1"/>
          <p:nvPr/>
        </p:nvSpPr>
        <p:spPr>
          <a:xfrm>
            <a:off x="6705600" y="1303089"/>
            <a:ext cx="17219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Noto Sans" panose="020B0502040504020204" pitchFamily="34" charset="0"/>
                <a:cs typeface="Noto Sans" panose="020B0502040504020204" pitchFamily="34" charset="0"/>
              </a:rPr>
              <a:t>서버</a:t>
            </a:r>
            <a:r>
              <a:rPr lang="en-US" altLang="ko-KR" sz="2000" b="1" dirty="0">
                <a:latin typeface="Noto Sans" panose="020B0502040504020204" pitchFamily="34" charset="0"/>
                <a:cs typeface="Noto Sans" panose="020B0502040504020204" pitchFamily="34" charset="0"/>
              </a:rPr>
              <a:t>(Server)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1266AF-1298-772C-A327-04CBAF81FC48}"/>
              </a:ext>
            </a:extLst>
          </p:cNvPr>
          <p:cNvSpPr txBox="1"/>
          <p:nvPr/>
        </p:nvSpPr>
        <p:spPr>
          <a:xfrm>
            <a:off x="6705600" y="3718531"/>
            <a:ext cx="2417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Noto Sans" panose="020B0502040504020204" pitchFamily="34" charset="0"/>
                <a:cs typeface="Noto Sans" panose="020B0502040504020204" pitchFamily="34" charset="0"/>
              </a:rPr>
              <a:t>클라이언트</a:t>
            </a:r>
            <a:r>
              <a:rPr lang="en-US" altLang="ko-KR" sz="2000" b="1" dirty="0">
                <a:latin typeface="Noto Sans" panose="020B0502040504020204" pitchFamily="34" charset="0"/>
                <a:cs typeface="Noto Sans" panose="020B0502040504020204" pitchFamily="34" charset="0"/>
              </a:rPr>
              <a:t>(Client)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8C728B-745B-CAA9-0994-20AC96C6A251}"/>
              </a:ext>
            </a:extLst>
          </p:cNvPr>
          <p:cNvSpPr txBox="1"/>
          <p:nvPr/>
        </p:nvSpPr>
        <p:spPr>
          <a:xfrm>
            <a:off x="6971530" y="4176251"/>
            <a:ext cx="50087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Socket()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함수로 가장 먼저 소켓을 생성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Connect()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함수를 이용해 통신 할 서버의 설정된 </a:t>
            </a:r>
            <a:r>
              <a:rPr lang="en-US" altLang="ko-KR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ip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와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port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번호에 통신을 시도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통신을 시도 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서버가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accept()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함수를 이용하여 클라이언트의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socket descriptor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를 반환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이를 통해 클라이언트와 서버가 서로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read() write()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를 하며 통신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CA0EB9-F3F7-1C2F-73AD-F9BCF1FBA0CD}"/>
              </a:ext>
            </a:extLst>
          </p:cNvPr>
          <p:cNvSpPr txBox="1"/>
          <p:nvPr/>
        </p:nvSpPr>
        <p:spPr>
          <a:xfrm>
            <a:off x="350044" y="737768"/>
            <a:ext cx="4059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TCP 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소켓 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3184494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276289" y="103082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AA44AE5-F02A-4D73-A68C-74A4A784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DE918F-2CCA-7D5B-1B3E-345CFDA2EAA9}"/>
              </a:ext>
            </a:extLst>
          </p:cNvPr>
          <p:cNvSpPr txBox="1"/>
          <p:nvPr/>
        </p:nvSpPr>
        <p:spPr>
          <a:xfrm>
            <a:off x="276288" y="927260"/>
            <a:ext cx="3228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rgbClr val="2E75B5"/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TCP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서버 구현</a:t>
            </a:r>
          </a:p>
        </p:txBody>
      </p:sp>
      <p:pic>
        <p:nvPicPr>
          <p:cNvPr id="12" name="그림 11" descr="텍스트, 스크린샷, 멀티미디어, 디스플레이이(가) 표시된 사진&#10;&#10;자동 생성된 설명">
            <a:extLst>
              <a:ext uri="{FF2B5EF4-FFF2-40B4-BE49-F238E27FC236}">
                <a16:creationId xmlns:a16="http://schemas.microsoft.com/office/drawing/2014/main" id="{EFE73537-E81F-BD5C-E8FA-57F28B199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1" y="1437391"/>
            <a:ext cx="8191500" cy="449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71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276289" y="103082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AA44AE5-F02A-4D73-A68C-74A4A784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DE918F-2CCA-7D5B-1B3E-345CFDA2EAA9}"/>
              </a:ext>
            </a:extLst>
          </p:cNvPr>
          <p:cNvSpPr txBox="1"/>
          <p:nvPr/>
        </p:nvSpPr>
        <p:spPr>
          <a:xfrm>
            <a:off x="276289" y="824926"/>
            <a:ext cx="3714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rgbClr val="2E75B5"/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TCP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클라이언트 구현</a:t>
            </a:r>
          </a:p>
        </p:txBody>
      </p:sp>
      <p:pic>
        <p:nvPicPr>
          <p:cNvPr id="7" name="그림 6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4F21C884-887C-36FB-00E1-BCBEC7DF9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667" y="1400143"/>
            <a:ext cx="7424665" cy="453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15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276289" y="103082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AA44AE5-F02A-4D73-A68C-74A4A784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DE918F-2CCA-7D5B-1B3E-345CFDA2EAA9}"/>
              </a:ext>
            </a:extLst>
          </p:cNvPr>
          <p:cNvSpPr txBox="1"/>
          <p:nvPr/>
        </p:nvSpPr>
        <p:spPr>
          <a:xfrm>
            <a:off x="276289" y="824926"/>
            <a:ext cx="5057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rgbClr val="2E75B5"/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TCP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서버와 클라이언트 동작</a:t>
            </a:r>
          </a:p>
        </p:txBody>
      </p:sp>
      <p:pic>
        <p:nvPicPr>
          <p:cNvPr id="12" name="그림 11" descr="텍스트, 디스플레이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41FFF288-3146-8EF3-B953-6118D1B7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751" y="1257912"/>
            <a:ext cx="5841552" cy="5069759"/>
          </a:xfrm>
          <a:prstGeom prst="rect">
            <a:avLst/>
          </a:prstGeom>
        </p:spPr>
      </p:pic>
      <p:pic>
        <p:nvPicPr>
          <p:cNvPr id="14" name="그림 13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9D8C0975-BA44-4E5D-74F0-5B8507F51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" y="1257912"/>
            <a:ext cx="3909060" cy="4886325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426D845-D3CF-4BE6-F636-40BD0B35F617}"/>
              </a:ext>
            </a:extLst>
          </p:cNvPr>
          <p:cNvSpPr/>
          <p:nvPr/>
        </p:nvSpPr>
        <p:spPr>
          <a:xfrm>
            <a:off x="1663699" y="2120900"/>
            <a:ext cx="1841501" cy="133350"/>
          </a:xfrm>
          <a:prstGeom prst="roundRect">
            <a:avLst/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1160AD5-2D54-71DD-1162-28DC64ECD54B}"/>
              </a:ext>
            </a:extLst>
          </p:cNvPr>
          <p:cNvSpPr/>
          <p:nvPr/>
        </p:nvSpPr>
        <p:spPr>
          <a:xfrm>
            <a:off x="6705599" y="2016124"/>
            <a:ext cx="2432051" cy="155575"/>
          </a:xfrm>
          <a:prstGeom prst="roundRect">
            <a:avLst/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7FD5C9A-8825-5779-C7AB-C0C16C134CE4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505200" y="2093912"/>
            <a:ext cx="3200399" cy="99290"/>
          </a:xfrm>
          <a:prstGeom prst="straightConnector1">
            <a:avLst/>
          </a:prstGeom>
          <a:ln w="25400" cap="rnd">
            <a:solidFill>
              <a:srgbClr val="5EFF4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1732D94-D06E-822B-E800-B57940CF6BA7}"/>
              </a:ext>
            </a:extLst>
          </p:cNvPr>
          <p:cNvSpPr/>
          <p:nvPr/>
        </p:nvSpPr>
        <p:spPr>
          <a:xfrm>
            <a:off x="1843087" y="3220475"/>
            <a:ext cx="2360522" cy="133350"/>
          </a:xfrm>
          <a:prstGeom prst="roundRect">
            <a:avLst/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C4524D1-C015-B4E4-CDC8-0EE9A8C06DCC}"/>
              </a:ext>
            </a:extLst>
          </p:cNvPr>
          <p:cNvSpPr/>
          <p:nvPr/>
        </p:nvSpPr>
        <p:spPr>
          <a:xfrm>
            <a:off x="6969832" y="3222393"/>
            <a:ext cx="3318813" cy="155575"/>
          </a:xfrm>
          <a:prstGeom prst="roundRect">
            <a:avLst/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6CAE142-DF64-06C2-602E-FD3AA05EA615}"/>
              </a:ext>
            </a:extLst>
          </p:cNvPr>
          <p:cNvCxnSpPr>
            <a:cxnSpLocks/>
          </p:cNvCxnSpPr>
          <p:nvPr/>
        </p:nvCxnSpPr>
        <p:spPr>
          <a:xfrm flipH="1">
            <a:off x="4203609" y="3287150"/>
            <a:ext cx="2766223" cy="0"/>
          </a:xfrm>
          <a:prstGeom prst="straightConnector1">
            <a:avLst/>
          </a:prstGeom>
          <a:ln w="25400" cap="rnd">
            <a:solidFill>
              <a:srgbClr val="5EFF4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6E7E87E-0267-9B4A-BAFE-47031EE0C72A}"/>
              </a:ext>
            </a:extLst>
          </p:cNvPr>
          <p:cNvSpPr/>
          <p:nvPr/>
        </p:nvSpPr>
        <p:spPr>
          <a:xfrm>
            <a:off x="1843087" y="3719683"/>
            <a:ext cx="2360522" cy="133350"/>
          </a:xfrm>
          <a:prstGeom prst="roundRect">
            <a:avLst/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8CC0ABC-AAB9-FCEA-3733-00E4131C4923}"/>
              </a:ext>
            </a:extLst>
          </p:cNvPr>
          <p:cNvSpPr/>
          <p:nvPr/>
        </p:nvSpPr>
        <p:spPr>
          <a:xfrm>
            <a:off x="6969832" y="3630783"/>
            <a:ext cx="3456959" cy="155575"/>
          </a:xfrm>
          <a:prstGeom prst="roundRect">
            <a:avLst/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DFB56C1-EBE6-1096-5FDF-1C5781EC6B0A}"/>
              </a:ext>
            </a:extLst>
          </p:cNvPr>
          <p:cNvCxnSpPr>
            <a:cxnSpLocks/>
          </p:cNvCxnSpPr>
          <p:nvPr/>
        </p:nvCxnSpPr>
        <p:spPr>
          <a:xfrm flipH="1">
            <a:off x="4203609" y="3719683"/>
            <a:ext cx="2766223" cy="45978"/>
          </a:xfrm>
          <a:prstGeom prst="straightConnector1">
            <a:avLst/>
          </a:prstGeom>
          <a:ln w="25400" cap="rnd">
            <a:solidFill>
              <a:srgbClr val="5EFF4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DA3D8A7-01F9-D224-9816-5176959820CE}"/>
              </a:ext>
            </a:extLst>
          </p:cNvPr>
          <p:cNvSpPr/>
          <p:nvPr/>
        </p:nvSpPr>
        <p:spPr>
          <a:xfrm>
            <a:off x="1843086" y="4432751"/>
            <a:ext cx="2557875" cy="948987"/>
          </a:xfrm>
          <a:prstGeom prst="roundRect">
            <a:avLst>
              <a:gd name="adj" fmla="val 2803"/>
            </a:avLst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3DF3A60-5D85-C9DD-D247-49FE5369DD74}"/>
              </a:ext>
            </a:extLst>
          </p:cNvPr>
          <p:cNvSpPr/>
          <p:nvPr/>
        </p:nvSpPr>
        <p:spPr>
          <a:xfrm>
            <a:off x="6969831" y="5381739"/>
            <a:ext cx="4062175" cy="155575"/>
          </a:xfrm>
          <a:prstGeom prst="roundRect">
            <a:avLst/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11C54C8-BC37-3F3A-F673-D0D4F5CCFDD6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4400961" y="4911262"/>
            <a:ext cx="2568870" cy="548265"/>
          </a:xfrm>
          <a:prstGeom prst="straightConnector1">
            <a:avLst/>
          </a:prstGeom>
          <a:ln w="25400" cap="rnd">
            <a:solidFill>
              <a:srgbClr val="5EFF4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829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276289" y="108317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AA44AE5-F02A-4D73-A68C-74A4A784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78971-47C0-4CD7-E70F-86012A1234B0}"/>
              </a:ext>
            </a:extLst>
          </p:cNvPr>
          <p:cNvSpPr txBox="1"/>
          <p:nvPr/>
        </p:nvSpPr>
        <p:spPr>
          <a:xfrm>
            <a:off x="276289" y="1101148"/>
            <a:ext cx="3374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Doubly Linked List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pic>
        <p:nvPicPr>
          <p:cNvPr id="6" name="그림 5" descr="텍스트, 스크린샷, 디스플레이, 멀티미디어이(가) 표시된 사진&#10;&#10;자동 생성된 설명">
            <a:extLst>
              <a:ext uri="{FF2B5EF4-FFF2-40B4-BE49-F238E27FC236}">
                <a16:creationId xmlns:a16="http://schemas.microsoft.com/office/drawing/2014/main" id="{3FBF58D6-74A4-1A80-D422-818BB7B32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17" y="2071327"/>
            <a:ext cx="5508203" cy="2515994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F8DA384-0A81-4490-7868-E7C1AC4A9360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4676832" y="3134067"/>
            <a:ext cx="2501715" cy="0"/>
          </a:xfrm>
          <a:prstGeom prst="straightConnector1">
            <a:avLst/>
          </a:prstGeom>
          <a:ln w="25400" cap="rnd">
            <a:solidFill>
              <a:srgbClr val="5EFF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8BC75C-7724-44D9-5693-57C7E25E9ADC}"/>
              </a:ext>
            </a:extLst>
          </p:cNvPr>
          <p:cNvSpPr txBox="1"/>
          <p:nvPr/>
        </p:nvSpPr>
        <p:spPr>
          <a:xfrm>
            <a:off x="7311784" y="2626234"/>
            <a:ext cx="42553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이중 연결 리스트의 노드를 정하는 부분입니다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. </a:t>
            </a:r>
            <a:r>
              <a:rPr lang="en-US" altLang="ko-KR" sz="1200" b="1" dirty="0">
                <a:solidFill>
                  <a:srgbClr val="EE6C6C"/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Pos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구조체는 뱀의 한 부분을 나타내는 좌표를 저장합니다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. </a:t>
            </a:r>
          </a:p>
          <a:p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altLang="ko-KR" sz="1200" b="1" dirty="0">
                <a:solidFill>
                  <a:srgbClr val="EE6C6C"/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front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와 </a:t>
            </a:r>
            <a:r>
              <a:rPr lang="en-US" altLang="ko-KR" sz="1200" b="1" dirty="0">
                <a:solidFill>
                  <a:srgbClr val="EE6C6C"/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back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은 각각 뱀의 맨 앞과 맨 뒤를 가리키는 포인터입니다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FE2159C-696A-27D4-0659-411EEFB9C4BE}"/>
              </a:ext>
            </a:extLst>
          </p:cNvPr>
          <p:cNvSpPr/>
          <p:nvPr/>
        </p:nvSpPr>
        <p:spPr>
          <a:xfrm>
            <a:off x="7178547" y="2559741"/>
            <a:ext cx="4088984" cy="11486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611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276289" y="108317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AA44AE5-F02A-4D73-A68C-74A4A784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16" name="그림 15" descr="텍스트, 전자제품, 디스플레이, 스크린샷이(가) 표시된 사진&#10;&#10;자동 생성된 설명">
            <a:extLst>
              <a:ext uri="{FF2B5EF4-FFF2-40B4-BE49-F238E27FC236}">
                <a16:creationId xmlns:a16="http://schemas.microsoft.com/office/drawing/2014/main" id="{59EBDB10-3504-92C9-2435-9BDEE0486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16" y="1375784"/>
            <a:ext cx="5022762" cy="4725592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530A41B-FCD0-BF35-0C4F-4BB578233947}"/>
              </a:ext>
            </a:extLst>
          </p:cNvPr>
          <p:cNvSpPr/>
          <p:nvPr/>
        </p:nvSpPr>
        <p:spPr>
          <a:xfrm>
            <a:off x="1035049" y="1989782"/>
            <a:ext cx="2978491" cy="148120"/>
          </a:xfrm>
          <a:prstGeom prst="roundRect">
            <a:avLst/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5A7195F-4480-C27E-06B1-891DF84F851E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4013540" y="2020835"/>
            <a:ext cx="2921171" cy="43007"/>
          </a:xfrm>
          <a:prstGeom prst="straightConnector1">
            <a:avLst/>
          </a:prstGeom>
          <a:ln w="25400" cap="rnd">
            <a:solidFill>
              <a:srgbClr val="5EFF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6709090-58C1-B398-C5F5-158BA91B1EAC}"/>
              </a:ext>
            </a:extLst>
          </p:cNvPr>
          <p:cNvSpPr txBox="1"/>
          <p:nvPr/>
        </p:nvSpPr>
        <p:spPr>
          <a:xfrm>
            <a:off x="7032317" y="1800387"/>
            <a:ext cx="435255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rgbClr val="EB5757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pos* peek() 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: </a:t>
            </a:r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큐의 맨 앞의 데이터를 반환하고 큐에서 제거하지 않고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그 데이터를 반환합니다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ko-KR" altLang="en-US" sz="105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71BEFC0-6991-A9A9-793B-5D389361DEFC}"/>
              </a:ext>
            </a:extLst>
          </p:cNvPr>
          <p:cNvSpPr/>
          <p:nvPr/>
        </p:nvSpPr>
        <p:spPr>
          <a:xfrm>
            <a:off x="1033481" y="2757373"/>
            <a:ext cx="2663501" cy="152430"/>
          </a:xfrm>
          <a:prstGeom prst="roundRect">
            <a:avLst/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9ABA57-069A-B29F-E556-0BD3DF4A3915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3696982" y="2825592"/>
            <a:ext cx="3237729" cy="18499"/>
          </a:xfrm>
          <a:prstGeom prst="straightConnector1">
            <a:avLst/>
          </a:prstGeom>
          <a:ln w="25400" cap="rnd">
            <a:solidFill>
              <a:srgbClr val="5EFF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7AA199A-13C9-7B10-7EBC-8666CF5EAB80}"/>
              </a:ext>
            </a:extLst>
          </p:cNvPr>
          <p:cNvSpPr/>
          <p:nvPr/>
        </p:nvSpPr>
        <p:spPr>
          <a:xfrm>
            <a:off x="6934711" y="1800387"/>
            <a:ext cx="4441686" cy="41549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3119E8-96EB-6829-0EBB-7F56ABA949DC}"/>
              </a:ext>
            </a:extLst>
          </p:cNvPr>
          <p:cNvSpPr txBox="1"/>
          <p:nvPr/>
        </p:nvSpPr>
        <p:spPr>
          <a:xfrm>
            <a:off x="7023846" y="2695729"/>
            <a:ext cx="43525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rgbClr val="EB5757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pos* dequeue() 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: </a:t>
            </a:r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큐에 데이터를 제거하는 작업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E943D2F-E914-04C3-5899-F430D6F29D09}"/>
              </a:ext>
            </a:extLst>
          </p:cNvPr>
          <p:cNvSpPr/>
          <p:nvPr/>
        </p:nvSpPr>
        <p:spPr>
          <a:xfrm>
            <a:off x="6934711" y="2684862"/>
            <a:ext cx="3192269" cy="3184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633127E-A381-96D0-136F-ACD97086CA4F}"/>
              </a:ext>
            </a:extLst>
          </p:cNvPr>
          <p:cNvSpPr/>
          <p:nvPr/>
        </p:nvSpPr>
        <p:spPr>
          <a:xfrm>
            <a:off x="1033481" y="3758009"/>
            <a:ext cx="2663501" cy="152430"/>
          </a:xfrm>
          <a:prstGeom prst="roundRect">
            <a:avLst/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C238397-F0B7-94DC-D471-8AE5170A4B34}"/>
              </a:ext>
            </a:extLst>
          </p:cNvPr>
          <p:cNvCxnSpPr>
            <a:cxnSpLocks/>
          </p:cNvCxnSpPr>
          <p:nvPr/>
        </p:nvCxnSpPr>
        <p:spPr>
          <a:xfrm flipH="1">
            <a:off x="3659604" y="3738580"/>
            <a:ext cx="3275107" cy="91441"/>
          </a:xfrm>
          <a:prstGeom prst="straightConnector1">
            <a:avLst/>
          </a:prstGeom>
          <a:ln w="25400" cap="rnd">
            <a:solidFill>
              <a:srgbClr val="5EFF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795BA50-9104-91F6-D563-4DF0AB4DCC2C}"/>
              </a:ext>
            </a:extLst>
          </p:cNvPr>
          <p:cNvSpPr txBox="1"/>
          <p:nvPr/>
        </p:nvSpPr>
        <p:spPr>
          <a:xfrm>
            <a:off x="6846942" y="3602039"/>
            <a:ext cx="43525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rgbClr val="EB5757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void enqueue(pos position) 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: </a:t>
            </a:r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큐에 데이터를 추가하는 작업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3464220-3AFE-157E-E20E-09EB7DD00DFB}"/>
              </a:ext>
            </a:extLst>
          </p:cNvPr>
          <p:cNvSpPr/>
          <p:nvPr/>
        </p:nvSpPr>
        <p:spPr>
          <a:xfrm>
            <a:off x="6819195" y="3586194"/>
            <a:ext cx="3833565" cy="2926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CDDFA-CAA7-E9D8-E3F3-E2EF38DE6D62}"/>
              </a:ext>
            </a:extLst>
          </p:cNvPr>
          <p:cNvSpPr txBox="1"/>
          <p:nvPr/>
        </p:nvSpPr>
        <p:spPr>
          <a:xfrm>
            <a:off x="276289" y="756624"/>
            <a:ext cx="3374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Queue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2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276289" y="108317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AA44AE5-F02A-4D73-A68C-74A4A784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A91B1F-C06A-C115-CF05-39B6151DDDA5}"/>
              </a:ext>
            </a:extLst>
          </p:cNvPr>
          <p:cNvSpPr txBox="1"/>
          <p:nvPr/>
        </p:nvSpPr>
        <p:spPr>
          <a:xfrm>
            <a:off x="276289" y="756624"/>
            <a:ext cx="3374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Sort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pic>
        <p:nvPicPr>
          <p:cNvPr id="7" name="그림 6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DB9FC7DD-C62F-99F9-997C-99D55F4E0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55" y="1158962"/>
            <a:ext cx="4522334" cy="471672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B10D645-1D29-BCCC-123E-18A98DF80954}"/>
              </a:ext>
            </a:extLst>
          </p:cNvPr>
          <p:cNvSpPr/>
          <p:nvPr/>
        </p:nvSpPr>
        <p:spPr>
          <a:xfrm>
            <a:off x="1408747" y="1549092"/>
            <a:ext cx="1340803" cy="461664"/>
          </a:xfrm>
          <a:prstGeom prst="roundRect">
            <a:avLst>
              <a:gd name="adj" fmla="val 6939"/>
            </a:avLst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7E75337-6495-24AD-482E-17A3111BB866}"/>
              </a:ext>
            </a:extLst>
          </p:cNvPr>
          <p:cNvSpPr/>
          <p:nvPr/>
        </p:nvSpPr>
        <p:spPr>
          <a:xfrm>
            <a:off x="1408748" y="3617170"/>
            <a:ext cx="3872866" cy="1521568"/>
          </a:xfrm>
          <a:prstGeom prst="roundRect">
            <a:avLst>
              <a:gd name="adj" fmla="val 2244"/>
            </a:avLst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26434E1-05FD-359A-3DD8-677FFC443CBE}"/>
              </a:ext>
            </a:extLst>
          </p:cNvPr>
          <p:cNvSpPr/>
          <p:nvPr/>
        </p:nvSpPr>
        <p:spPr>
          <a:xfrm>
            <a:off x="1408747" y="2206185"/>
            <a:ext cx="2467928" cy="717990"/>
          </a:xfrm>
          <a:prstGeom prst="roundRect">
            <a:avLst>
              <a:gd name="adj" fmla="val 6939"/>
            </a:avLst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90EA1C7-64B3-8691-5D1E-7D3AC05C6018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2749550" y="1691524"/>
            <a:ext cx="3899706" cy="77898"/>
          </a:xfrm>
          <a:prstGeom prst="straightConnector1">
            <a:avLst/>
          </a:prstGeom>
          <a:ln w="25400" cap="rnd">
            <a:solidFill>
              <a:srgbClr val="5EFF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4CD7931-9FC3-CE29-BB11-C0057CE2E5FC}"/>
              </a:ext>
            </a:extLst>
          </p:cNvPr>
          <p:cNvCxnSpPr>
            <a:cxnSpLocks/>
            <a:stCxn id="18" idx="1"/>
            <a:endCxn id="12" idx="3"/>
          </p:cNvCxnSpPr>
          <p:nvPr/>
        </p:nvCxnSpPr>
        <p:spPr>
          <a:xfrm flipH="1" flipV="1">
            <a:off x="3876675" y="2565180"/>
            <a:ext cx="2727242" cy="409270"/>
          </a:xfrm>
          <a:prstGeom prst="straightConnector1">
            <a:avLst/>
          </a:prstGeom>
          <a:ln w="25400" cap="rnd">
            <a:solidFill>
              <a:srgbClr val="5EFF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37847B8-2E04-30F1-0CA4-B1C98289487B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5281614" y="3954444"/>
            <a:ext cx="1441528" cy="413681"/>
          </a:xfrm>
          <a:prstGeom prst="straightConnector1">
            <a:avLst/>
          </a:prstGeom>
          <a:ln w="25400" cap="rnd">
            <a:solidFill>
              <a:srgbClr val="5EFF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01C96ED-4B59-D41F-0A12-8FA892C3FB2E}"/>
              </a:ext>
            </a:extLst>
          </p:cNvPr>
          <p:cNvSpPr/>
          <p:nvPr/>
        </p:nvSpPr>
        <p:spPr>
          <a:xfrm>
            <a:off x="6649256" y="1535572"/>
            <a:ext cx="4225377" cy="311903"/>
          </a:xfrm>
          <a:prstGeom prst="roundRect">
            <a:avLst>
              <a:gd name="adj" fmla="val 3143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699F6CA-0149-2FF8-53C4-28B5844ABF95}"/>
              </a:ext>
            </a:extLst>
          </p:cNvPr>
          <p:cNvSpPr/>
          <p:nvPr/>
        </p:nvSpPr>
        <p:spPr>
          <a:xfrm>
            <a:off x="6603917" y="2704611"/>
            <a:ext cx="4471775" cy="539677"/>
          </a:xfrm>
          <a:prstGeom prst="roundRect">
            <a:avLst>
              <a:gd name="adj" fmla="val 1917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E0B627-9F63-DCDE-F66B-E7C60020019B}"/>
              </a:ext>
            </a:extLst>
          </p:cNvPr>
          <p:cNvSpPr txBox="1"/>
          <p:nvPr/>
        </p:nvSpPr>
        <p:spPr>
          <a:xfrm>
            <a:off x="6673229" y="1567200"/>
            <a:ext cx="43525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fopen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() </a:t>
            </a:r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함수를 통해 </a:t>
            </a:r>
            <a:r>
              <a:rPr lang="en-US" altLang="ko-KR" sz="105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Rank_List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파일을 오픈합니다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ko-KR" altLang="en-US" sz="105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2DC8A6-96F9-99A5-B1C1-476C9D7511B6}"/>
              </a:ext>
            </a:extLst>
          </p:cNvPr>
          <p:cNvSpPr txBox="1"/>
          <p:nvPr/>
        </p:nvSpPr>
        <p:spPr>
          <a:xfrm>
            <a:off x="6637536" y="2744122"/>
            <a:ext cx="435255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파일에서 할 줄 씩 읽어 오면서 </a:t>
            </a:r>
            <a:r>
              <a:rPr lang="en-US" altLang="ko-KR" sz="105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insert_sorted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()</a:t>
            </a:r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함수를 통해 정렬 되어 연결 리스트에 삽입합니다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ko-KR" altLang="en-US" sz="105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C6C1A1D-CA26-E5C4-653C-89B52740545F}"/>
              </a:ext>
            </a:extLst>
          </p:cNvPr>
          <p:cNvSpPr/>
          <p:nvPr/>
        </p:nvSpPr>
        <p:spPr>
          <a:xfrm>
            <a:off x="6723142" y="3708130"/>
            <a:ext cx="4151491" cy="491788"/>
          </a:xfrm>
          <a:prstGeom prst="roundRect">
            <a:avLst>
              <a:gd name="adj" fmla="val 994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E471E8-280D-6EA7-B1DA-28598FABA60D}"/>
              </a:ext>
            </a:extLst>
          </p:cNvPr>
          <p:cNvSpPr txBox="1"/>
          <p:nvPr/>
        </p:nvSpPr>
        <p:spPr>
          <a:xfrm>
            <a:off x="6723142" y="3746695"/>
            <a:ext cx="435255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불러온 순위 정보를 문자열을 통해 클라이언트에게 메시지를 전송합니다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.</a:t>
            </a:r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4933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276289" y="108317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AA44AE5-F02A-4D73-A68C-74A4A784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19</a:t>
            </a:fld>
            <a:endParaRPr lang="ko-KR" altLang="en-US"/>
          </a:p>
        </p:txBody>
      </p:sp>
      <p:pic>
        <p:nvPicPr>
          <p:cNvPr id="15" name="그림 14" descr="텍스트, 스크린샷, 소프트웨어, 컴퓨터이(가) 표시된 사진&#10;&#10;자동 생성된 설명">
            <a:extLst>
              <a:ext uri="{FF2B5EF4-FFF2-40B4-BE49-F238E27FC236}">
                <a16:creationId xmlns:a16="http://schemas.microsoft.com/office/drawing/2014/main" id="{C159A98C-71DB-5E26-BAF3-8E0D27BC5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020" y="1118294"/>
            <a:ext cx="3238328" cy="5326380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6C31473-2B67-F39C-AD73-C5771D2D4E4C}"/>
              </a:ext>
            </a:extLst>
          </p:cNvPr>
          <p:cNvSpPr/>
          <p:nvPr/>
        </p:nvSpPr>
        <p:spPr>
          <a:xfrm>
            <a:off x="2396172" y="1596717"/>
            <a:ext cx="1331913" cy="405756"/>
          </a:xfrm>
          <a:prstGeom prst="roundRect">
            <a:avLst>
              <a:gd name="adj" fmla="val 6939"/>
            </a:avLst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C3EBA3E-2698-3AC2-19B6-C41EF5E7051A}"/>
              </a:ext>
            </a:extLst>
          </p:cNvPr>
          <p:cNvCxnSpPr>
            <a:cxnSpLocks/>
          </p:cNvCxnSpPr>
          <p:nvPr/>
        </p:nvCxnSpPr>
        <p:spPr>
          <a:xfrm flipH="1">
            <a:off x="3728085" y="1756588"/>
            <a:ext cx="2921171" cy="43007"/>
          </a:xfrm>
          <a:prstGeom prst="straightConnector1">
            <a:avLst/>
          </a:prstGeom>
          <a:ln w="25400" cap="rnd">
            <a:solidFill>
              <a:srgbClr val="5EFF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4E70C14-6F66-8D4F-6D9D-EC6AA2BE2B8A}"/>
              </a:ext>
            </a:extLst>
          </p:cNvPr>
          <p:cNvSpPr/>
          <p:nvPr/>
        </p:nvSpPr>
        <p:spPr>
          <a:xfrm>
            <a:off x="2396172" y="2700146"/>
            <a:ext cx="2472315" cy="605087"/>
          </a:xfrm>
          <a:prstGeom prst="roundRect">
            <a:avLst>
              <a:gd name="adj" fmla="val 4356"/>
            </a:avLst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9B3F313-D6E9-53E7-E21A-C77A78FFAB5B}"/>
              </a:ext>
            </a:extLst>
          </p:cNvPr>
          <p:cNvSpPr/>
          <p:nvPr/>
        </p:nvSpPr>
        <p:spPr>
          <a:xfrm>
            <a:off x="2388106" y="3360648"/>
            <a:ext cx="2314127" cy="2805548"/>
          </a:xfrm>
          <a:prstGeom prst="roundRect">
            <a:avLst>
              <a:gd name="adj" fmla="val 2598"/>
            </a:avLst>
          </a:prstGeom>
          <a:noFill/>
          <a:ln>
            <a:solidFill>
              <a:srgbClr val="5EF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0C51A95-C530-7BDE-0429-86C73489305D}"/>
              </a:ext>
            </a:extLst>
          </p:cNvPr>
          <p:cNvCxnSpPr>
            <a:cxnSpLocks/>
          </p:cNvCxnSpPr>
          <p:nvPr/>
        </p:nvCxnSpPr>
        <p:spPr>
          <a:xfrm flipH="1">
            <a:off x="4868487" y="2959682"/>
            <a:ext cx="1711037" cy="43007"/>
          </a:xfrm>
          <a:prstGeom prst="straightConnector1">
            <a:avLst/>
          </a:prstGeom>
          <a:ln w="25400" cap="rnd">
            <a:solidFill>
              <a:srgbClr val="5EFF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0012077-9C0D-D978-0BF7-DA7C9F7F2AD7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4702233" y="4583157"/>
            <a:ext cx="2060899" cy="167079"/>
          </a:xfrm>
          <a:prstGeom prst="straightConnector1">
            <a:avLst/>
          </a:prstGeom>
          <a:ln w="25400" cap="rnd">
            <a:solidFill>
              <a:srgbClr val="5EFF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14C398B-E3AA-E493-D3F6-FEB5633ADB9B}"/>
              </a:ext>
            </a:extLst>
          </p:cNvPr>
          <p:cNvSpPr/>
          <p:nvPr/>
        </p:nvSpPr>
        <p:spPr>
          <a:xfrm>
            <a:off x="6649256" y="1535572"/>
            <a:ext cx="4225377" cy="3119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54166A0-CE98-FFF1-359B-4624ED28B70F}"/>
              </a:ext>
            </a:extLst>
          </p:cNvPr>
          <p:cNvSpPr/>
          <p:nvPr/>
        </p:nvSpPr>
        <p:spPr>
          <a:xfrm>
            <a:off x="6603917" y="2704611"/>
            <a:ext cx="4499115" cy="1030223"/>
          </a:xfrm>
          <a:prstGeom prst="roundRect">
            <a:avLst>
              <a:gd name="adj" fmla="val 994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BAB4B6E-CDE0-CB08-9789-345C6E59FFCA}"/>
              </a:ext>
            </a:extLst>
          </p:cNvPr>
          <p:cNvSpPr/>
          <p:nvPr/>
        </p:nvSpPr>
        <p:spPr>
          <a:xfrm>
            <a:off x="6759633" y="4328970"/>
            <a:ext cx="4628254" cy="337919"/>
          </a:xfrm>
          <a:prstGeom prst="roundRect">
            <a:avLst>
              <a:gd name="adj" fmla="val 89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05D9B4-B76D-E5F8-C060-798F78AC13D6}"/>
              </a:ext>
            </a:extLst>
          </p:cNvPr>
          <p:cNvSpPr txBox="1"/>
          <p:nvPr/>
        </p:nvSpPr>
        <p:spPr>
          <a:xfrm>
            <a:off x="6673229" y="1567200"/>
            <a:ext cx="43525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score_value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값이 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0</a:t>
            </a:r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번이면 순위에 들어가지 않도록 변경하였습니다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ko-KR" altLang="en-US" sz="105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F2B848-5E7C-FF46-1AFC-8B19FA2C9F4F}"/>
              </a:ext>
            </a:extLst>
          </p:cNvPr>
          <p:cNvSpPr txBox="1"/>
          <p:nvPr/>
        </p:nvSpPr>
        <p:spPr>
          <a:xfrm>
            <a:off x="6671154" y="2751241"/>
            <a:ext cx="4352551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현재 노드가 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NULL</a:t>
            </a:r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이 아니고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현재 노드의 이름이 새로운 플레이어의 이름보다 작을 때까지 계속해서 다음 노드로 이동하는 과정을 나타냅니다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endParaRPr lang="en-US" altLang="ko-KR" sz="105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이를 통해 연결 리스트를 순회하며 정렬된 위치를 찾아갑니다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ko-KR" altLang="en-US" sz="105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732124-E94E-696A-6C61-EC98BDB4B9CC}"/>
              </a:ext>
            </a:extLst>
          </p:cNvPr>
          <p:cNvSpPr txBox="1"/>
          <p:nvPr/>
        </p:nvSpPr>
        <p:spPr>
          <a:xfrm>
            <a:off x="6763132" y="4375408"/>
            <a:ext cx="46212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플레이어를 점수에 따라 정렬된 순서로 연결 리스트에 삽입하는 함수입니다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endParaRPr lang="en-US" altLang="ko-KR" sz="105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A91B1F-C06A-C115-CF05-39B6151DDDA5}"/>
              </a:ext>
            </a:extLst>
          </p:cNvPr>
          <p:cNvSpPr txBox="1"/>
          <p:nvPr/>
        </p:nvSpPr>
        <p:spPr>
          <a:xfrm>
            <a:off x="276289" y="756624"/>
            <a:ext cx="3374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Sort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326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276289" y="108317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AA44AE5-F02A-4D73-A68C-74A4A78435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BF879E-EAED-4C3A-C4C5-8AA87A500ECA}"/>
              </a:ext>
            </a:extLst>
          </p:cNvPr>
          <p:cNvSpPr txBox="1"/>
          <p:nvPr/>
        </p:nvSpPr>
        <p:spPr>
          <a:xfrm>
            <a:off x="276289" y="756624"/>
            <a:ext cx="3374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Result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pic>
        <p:nvPicPr>
          <p:cNvPr id="10" name="20231130_150315">
            <a:hlinkClick r:id="" action="ppaction://media"/>
            <a:extLst>
              <a:ext uri="{FF2B5EF4-FFF2-40B4-BE49-F238E27FC236}">
                <a16:creationId xmlns:a16="http://schemas.microsoft.com/office/drawing/2014/main" id="{891BD265-4899-E4A1-B7E1-8C55B66CE86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19387" y="1194502"/>
            <a:ext cx="8953226" cy="503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2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20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9B9780-0EAC-4C87-B494-6CEE9C11773C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07C62-CDC1-4C94-AB61-10A9E47C51C8}"/>
              </a:ext>
            </a:extLst>
          </p:cNvPr>
          <p:cNvSpPr txBox="1"/>
          <p:nvPr/>
        </p:nvSpPr>
        <p:spPr>
          <a:xfrm>
            <a:off x="276289" y="108317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2 </a:t>
            </a:r>
            <a:r>
              <a:rPr lang="ko-KR" altLang="en-US" sz="24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오유찬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인턴 과제 발표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AA44AE5-F02A-4D73-A68C-74A4A784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557F0-FCA1-47C7-AEFA-4592F0E5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1A506C-F3ED-4DE8-A345-DE96AE8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DFE757-F84F-2053-B587-553DDEB2E64F}"/>
              </a:ext>
            </a:extLst>
          </p:cNvPr>
          <p:cNvSpPr txBox="1"/>
          <p:nvPr/>
        </p:nvSpPr>
        <p:spPr>
          <a:xfrm>
            <a:off x="350044" y="1007008"/>
            <a:ext cx="339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소감문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BA7CB-99DB-0DA0-9701-0C27A1263677}"/>
              </a:ext>
            </a:extLst>
          </p:cNvPr>
          <p:cNvSpPr txBox="1"/>
          <p:nvPr/>
        </p:nvSpPr>
        <p:spPr>
          <a:xfrm>
            <a:off x="1124852" y="1797382"/>
            <a:ext cx="1030514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한 달 간의 현장실습 동안 소켓 프로그래밍 프로젝트를 진행하며 많은 것을 배우고 느낄 수 있었습니다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처음에는 소켓 통신에 대한 이해가 부족하여 어려움을 겪었지만 프로젝트를 진행하면서 네트워크 통신에 대한 경험을 쌓을 수 있어 좋았습니다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이번 프로젝트를 통해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TCP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와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UDP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의 차이점을 이해하고 각각의 장단점을 고려하여 프로토콜을 선택하는 경험을 하며 동아리에서 하던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C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언어와는 다른 새로운 느낌을 받을 수 있어서 어렵더라도 즐겁게 배울 수 있었습니다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9950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B2E7E4-10C1-E2C7-EEC2-EF2E20E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80859-85B4-ED39-1444-9CFFD33D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315FE066-0AEA-971A-DD8E-899E7890BBAA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6" name="그래픽 4">
            <a:extLst>
              <a:ext uri="{FF2B5EF4-FFF2-40B4-BE49-F238E27FC236}">
                <a16:creationId xmlns:a16="http://schemas.microsoft.com/office/drawing/2014/main" id="{A29E74A8-A05E-69CA-0764-6C9930D70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BC574D-E808-A06D-965E-62DF18E93111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멘토 평가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4356AB3-9149-E00D-EF74-F683350112F6}"/>
              </a:ext>
            </a:extLst>
          </p:cNvPr>
          <p:cNvGrpSpPr/>
          <p:nvPr/>
        </p:nvGrpSpPr>
        <p:grpSpPr>
          <a:xfrm>
            <a:off x="1689081" y="1484498"/>
            <a:ext cx="4015846" cy="2245894"/>
            <a:chOff x="654515" y="1232034"/>
            <a:chExt cx="3436221" cy="238190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A8E960C-5F67-3CD7-2813-E5CDC4901068}"/>
                </a:ext>
              </a:extLst>
            </p:cNvPr>
            <p:cNvSpPr/>
            <p:nvPr/>
          </p:nvSpPr>
          <p:spPr>
            <a:xfrm>
              <a:off x="654517" y="1696840"/>
              <a:ext cx="3436219" cy="19170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7" name="Rectangle: Single Corner Snipped 6">
              <a:extLst>
                <a:ext uri="{FF2B5EF4-FFF2-40B4-BE49-F238E27FC236}">
                  <a16:creationId xmlns:a16="http://schemas.microsoft.com/office/drawing/2014/main" id="{3B5DDE0C-745B-131D-3737-571D8FE2B7C0}"/>
                </a:ext>
              </a:extLst>
            </p:cNvPr>
            <p:cNvSpPr/>
            <p:nvPr/>
          </p:nvSpPr>
          <p:spPr>
            <a:xfrm flipH="1">
              <a:off x="654515" y="1232034"/>
              <a:ext cx="3436219" cy="464806"/>
            </a:xfrm>
            <a:prstGeom prst="snip1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33C8878-B792-AE38-43A3-7782DF86AC76}"/>
              </a:ext>
            </a:extLst>
          </p:cNvPr>
          <p:cNvSpPr txBox="1"/>
          <p:nvPr/>
        </p:nvSpPr>
        <p:spPr>
          <a:xfrm>
            <a:off x="1816414" y="1518964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Strengths</a:t>
            </a:r>
            <a:endParaRPr lang="en-US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D54D78-FFF2-32CA-3DB7-14BF2FE78C80}"/>
              </a:ext>
            </a:extLst>
          </p:cNvPr>
          <p:cNvGrpSpPr/>
          <p:nvPr/>
        </p:nvGrpSpPr>
        <p:grpSpPr>
          <a:xfrm>
            <a:off x="5941995" y="1484498"/>
            <a:ext cx="4176000" cy="2245894"/>
            <a:chOff x="654515" y="1232034"/>
            <a:chExt cx="3436221" cy="238190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F4A9AAF-DD9B-A5E2-CA0D-6DDF4E6FA6F2}"/>
                </a:ext>
              </a:extLst>
            </p:cNvPr>
            <p:cNvSpPr/>
            <p:nvPr/>
          </p:nvSpPr>
          <p:spPr>
            <a:xfrm>
              <a:off x="654517" y="1696840"/>
              <a:ext cx="3436219" cy="19170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559658F2-0244-BBA3-673F-567E05CA2D5D}"/>
                </a:ext>
              </a:extLst>
            </p:cNvPr>
            <p:cNvSpPr/>
            <p:nvPr/>
          </p:nvSpPr>
          <p:spPr>
            <a:xfrm flipH="1">
              <a:off x="654515" y="1232034"/>
              <a:ext cx="3436219" cy="464806"/>
            </a:xfrm>
            <a:prstGeom prst="snip1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996CB2D-F99C-ACA3-7727-09BC65FC9674}"/>
              </a:ext>
            </a:extLst>
          </p:cNvPr>
          <p:cNvSpPr txBox="1"/>
          <p:nvPr/>
        </p:nvSpPr>
        <p:spPr>
          <a:xfrm>
            <a:off x="6076844" y="1518964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Weaknesses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68EDF5-48F3-F067-A2AA-A6B95509B80D}"/>
              </a:ext>
            </a:extLst>
          </p:cNvPr>
          <p:cNvGrpSpPr/>
          <p:nvPr/>
        </p:nvGrpSpPr>
        <p:grpSpPr>
          <a:xfrm>
            <a:off x="1689081" y="3854051"/>
            <a:ext cx="4015846" cy="2245465"/>
            <a:chOff x="654515" y="1232034"/>
            <a:chExt cx="3436221" cy="238144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5A35945-64CF-56BA-CC68-E90CFEF7E84E}"/>
                </a:ext>
              </a:extLst>
            </p:cNvPr>
            <p:cNvSpPr/>
            <p:nvPr/>
          </p:nvSpPr>
          <p:spPr>
            <a:xfrm>
              <a:off x="654517" y="1696840"/>
              <a:ext cx="3436219" cy="191664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20" name="Rectangle: Single Corner Snipped 19">
              <a:extLst>
                <a:ext uri="{FF2B5EF4-FFF2-40B4-BE49-F238E27FC236}">
                  <a16:creationId xmlns:a16="http://schemas.microsoft.com/office/drawing/2014/main" id="{80A89DE4-2955-43D9-E0CE-EF967F4FA4DF}"/>
                </a:ext>
              </a:extLst>
            </p:cNvPr>
            <p:cNvSpPr/>
            <p:nvPr/>
          </p:nvSpPr>
          <p:spPr>
            <a:xfrm flipH="1">
              <a:off x="654515" y="1232034"/>
              <a:ext cx="3436219" cy="464806"/>
            </a:xfrm>
            <a:prstGeom prst="snip1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47C148E-9420-90ED-0053-2CBA1CA6490A}"/>
              </a:ext>
            </a:extLst>
          </p:cNvPr>
          <p:cNvSpPr txBox="1"/>
          <p:nvPr/>
        </p:nvSpPr>
        <p:spPr>
          <a:xfrm>
            <a:off x="1816414" y="3888517"/>
            <a:ext cx="18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Opportunities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A898012-AF21-44F6-373D-F02759696114}"/>
              </a:ext>
            </a:extLst>
          </p:cNvPr>
          <p:cNvGrpSpPr/>
          <p:nvPr/>
        </p:nvGrpSpPr>
        <p:grpSpPr>
          <a:xfrm>
            <a:off x="5941995" y="3854051"/>
            <a:ext cx="4176000" cy="2245465"/>
            <a:chOff x="654515" y="1232034"/>
            <a:chExt cx="3436221" cy="238144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33E2ED5-B69F-0983-1D7F-15C192EE5080}"/>
                </a:ext>
              </a:extLst>
            </p:cNvPr>
            <p:cNvSpPr/>
            <p:nvPr/>
          </p:nvSpPr>
          <p:spPr>
            <a:xfrm>
              <a:off x="654517" y="1696840"/>
              <a:ext cx="3436219" cy="191664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24" name="Rectangle: Single Corner Snipped 23">
              <a:extLst>
                <a:ext uri="{FF2B5EF4-FFF2-40B4-BE49-F238E27FC236}">
                  <a16:creationId xmlns:a16="http://schemas.microsoft.com/office/drawing/2014/main" id="{5235C865-663C-E9A5-C840-16BFD6B7FFC7}"/>
                </a:ext>
              </a:extLst>
            </p:cNvPr>
            <p:cNvSpPr/>
            <p:nvPr/>
          </p:nvSpPr>
          <p:spPr>
            <a:xfrm flipH="1">
              <a:off x="654515" y="1232034"/>
              <a:ext cx="3436219" cy="464806"/>
            </a:xfrm>
            <a:prstGeom prst="snip1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F07F2B9-1E0F-240F-8946-7C3076C3900B}"/>
              </a:ext>
            </a:extLst>
          </p:cNvPr>
          <p:cNvSpPr txBox="1"/>
          <p:nvPr/>
        </p:nvSpPr>
        <p:spPr>
          <a:xfrm>
            <a:off x="6102243" y="3888517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Threats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2808F-061B-ADA1-B688-E69141F9E792}"/>
              </a:ext>
            </a:extLst>
          </p:cNvPr>
          <p:cNvSpPr txBox="1"/>
          <p:nvPr/>
        </p:nvSpPr>
        <p:spPr>
          <a:xfrm>
            <a:off x="1816414" y="2112523"/>
            <a:ext cx="3746186" cy="115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373A3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 </a:t>
            </a:r>
            <a:r>
              <a:rPr lang="ko-KR" altLang="en-US" sz="1600" dirty="0">
                <a:solidFill>
                  <a:srgbClr val="373A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업무 파악 </a:t>
            </a:r>
            <a:r>
              <a:rPr lang="en-US" altLang="ko-KR" sz="1600" dirty="0">
                <a:solidFill>
                  <a:srgbClr val="373A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/ </a:t>
            </a:r>
            <a:r>
              <a:rPr lang="ko-KR" altLang="en-US" sz="1600" dirty="0">
                <a:solidFill>
                  <a:srgbClr val="373A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실행 능력</a:t>
            </a:r>
            <a:endParaRPr lang="en-US" altLang="ko-KR" sz="1600" dirty="0">
              <a:solidFill>
                <a:srgbClr val="373A3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" panose="020B0502040504020204" pitchFamily="34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373A3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 C </a:t>
            </a:r>
            <a:r>
              <a:rPr lang="ko-KR" altLang="en-US" sz="1600" dirty="0">
                <a:solidFill>
                  <a:srgbClr val="373A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프로그래밍 </a:t>
            </a:r>
            <a:r>
              <a:rPr lang="ko-KR" altLang="en-US" sz="1600" b="0" i="0" dirty="0">
                <a:solidFill>
                  <a:srgbClr val="373A3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이해도</a:t>
            </a:r>
            <a:r>
              <a:rPr lang="en-US" altLang="ko-KR" sz="1600" b="0" i="0" dirty="0">
                <a:solidFill>
                  <a:srgbClr val="373A3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 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373A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 </a:t>
            </a:r>
            <a:r>
              <a:rPr lang="ko-KR" altLang="en-US" sz="1600" dirty="0">
                <a:solidFill>
                  <a:srgbClr val="373A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프로그래밍에 대한 적극적 자세</a:t>
            </a:r>
            <a:endParaRPr lang="en-US" altLang="ko-KR" sz="1600" b="0" i="0" dirty="0">
              <a:solidFill>
                <a:srgbClr val="373A3C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Noto Sans" panose="020B050204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3B7863-1208-625E-3D9B-1531A973869B}"/>
              </a:ext>
            </a:extLst>
          </p:cNvPr>
          <p:cNvSpPr txBox="1"/>
          <p:nvPr/>
        </p:nvSpPr>
        <p:spPr>
          <a:xfrm>
            <a:off x="1811988" y="4452484"/>
            <a:ext cx="3831556" cy="787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373A3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 </a:t>
            </a:r>
            <a:r>
              <a:rPr lang="ko-KR" altLang="en-US" sz="1600" b="0" i="0" dirty="0">
                <a:solidFill>
                  <a:srgbClr val="373A3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인턴 과정을 통한 실제 업무 역량 파악</a:t>
            </a:r>
            <a:endParaRPr lang="en-US" altLang="ko-KR" sz="1600" b="0" i="0" dirty="0">
              <a:solidFill>
                <a:srgbClr val="373A3C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Noto Sans" panose="020B0502040504020204" pitchFamily="34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solidFill>
                  <a:srgbClr val="373A3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 네트워크 통신에 대한 관심도</a:t>
            </a:r>
            <a:endParaRPr lang="en-US" altLang="ko-KR" sz="1600" b="0" i="0" dirty="0">
              <a:solidFill>
                <a:srgbClr val="373A3C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Noto Sans" panose="020B050204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DE1FD5-7CE5-2AC2-A92C-3CE7B16DFA76}"/>
              </a:ext>
            </a:extLst>
          </p:cNvPr>
          <p:cNvSpPr txBox="1"/>
          <p:nvPr/>
        </p:nvSpPr>
        <p:spPr>
          <a:xfrm>
            <a:off x="6102243" y="2112523"/>
            <a:ext cx="4015750" cy="115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373A3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 </a:t>
            </a:r>
            <a:r>
              <a:rPr lang="ko-KR" altLang="en-US" sz="1600" b="0" i="0" dirty="0">
                <a:solidFill>
                  <a:srgbClr val="373A3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짧은 인턴 기간으로 인한 실무 업무 미 파악</a:t>
            </a:r>
            <a:endParaRPr lang="en-US" altLang="ko-KR" sz="1600" b="0" i="0" dirty="0">
              <a:solidFill>
                <a:srgbClr val="373A3C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Noto Sans" panose="020B0502040504020204" pitchFamily="34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373A3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 </a:t>
            </a:r>
            <a:r>
              <a:rPr lang="ko-KR" altLang="en-US" sz="1600" b="0" i="0" dirty="0">
                <a:solidFill>
                  <a:srgbClr val="373A3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문서 작성 능력</a:t>
            </a:r>
            <a:endParaRPr lang="en-US" altLang="ko-KR" sz="1600" b="0" i="0" dirty="0">
              <a:solidFill>
                <a:srgbClr val="373A3C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Noto Sans" panose="020B0502040504020204" pitchFamily="34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373A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 </a:t>
            </a:r>
            <a:r>
              <a:rPr lang="ko-KR" altLang="en-US" sz="1600" dirty="0">
                <a:solidFill>
                  <a:srgbClr val="373A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의사 소통 약소</a:t>
            </a:r>
            <a:endParaRPr lang="en-US" altLang="ko-KR" sz="1600" b="0" i="0" dirty="0">
              <a:solidFill>
                <a:srgbClr val="373A3C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Noto Sans" panose="020B050204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070428-C195-7461-2A12-A5FCF23AE8E3}"/>
              </a:ext>
            </a:extLst>
          </p:cNvPr>
          <p:cNvSpPr txBox="1"/>
          <p:nvPr/>
        </p:nvSpPr>
        <p:spPr>
          <a:xfrm>
            <a:off x="6047328" y="4486954"/>
            <a:ext cx="3965331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373A3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Noto Sans" panose="020B0502040504020204" pitchFamily="34" charset="0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68A1A7-C8F7-0A13-2ED1-3716A5A18B37}"/>
              </a:ext>
            </a:extLst>
          </p:cNvPr>
          <p:cNvSpPr txBox="1"/>
          <p:nvPr/>
        </p:nvSpPr>
        <p:spPr>
          <a:xfrm>
            <a:off x="504408" y="778610"/>
            <a:ext cx="6000988" cy="420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ko-KR" sz="18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SWOT </a:t>
            </a:r>
            <a:r>
              <a:rPr lang="ko-KR" altLang="en-US" sz="18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분석</a:t>
            </a:r>
          </a:p>
        </p:txBody>
      </p:sp>
    </p:spTree>
    <p:extLst>
      <p:ext uri="{BB962C8B-B14F-4D97-AF65-F5344CB8AC3E}">
        <p14:creationId xmlns:p14="http://schemas.microsoft.com/office/powerpoint/2010/main" val="1306123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B2E7E4-10C1-E2C7-EEC2-EF2E20E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80859-85B4-ED39-1444-9CFFD33D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315FE066-0AEA-971A-DD8E-899E7890BBAA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6" name="그래픽 4">
            <a:extLst>
              <a:ext uri="{FF2B5EF4-FFF2-40B4-BE49-F238E27FC236}">
                <a16:creationId xmlns:a16="http://schemas.microsoft.com/office/drawing/2014/main" id="{A29E74A8-A05E-69CA-0764-6C9930D70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BC574D-E808-A06D-965E-62DF18E93111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Contents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 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</a:t>
            </a:r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멘토 평가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68A1A7-C8F7-0A13-2ED1-3716A5A18B37}"/>
              </a:ext>
            </a:extLst>
          </p:cNvPr>
          <p:cNvSpPr txBox="1"/>
          <p:nvPr/>
        </p:nvSpPr>
        <p:spPr>
          <a:xfrm>
            <a:off x="504408" y="778610"/>
            <a:ext cx="6000988" cy="420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ko-KR" altLang="en-US" sz="18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Malgun Gothic"/>
                <a:sym typeface="Malgun Gothic"/>
              </a:rPr>
              <a:t>세부 평가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CAFA83D-472A-ABA6-46DE-6C96DA579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234112"/>
              </p:ext>
            </p:extLst>
          </p:nvPr>
        </p:nvGraphicFramePr>
        <p:xfrm>
          <a:off x="844550" y="1310147"/>
          <a:ext cx="10693401" cy="501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550">
                  <a:extLst>
                    <a:ext uri="{9D8B030D-6E8A-4147-A177-3AD203B41FA5}">
                      <a16:colId xmlns:a16="http://schemas.microsoft.com/office/drawing/2014/main" val="3695827629"/>
                    </a:ext>
                  </a:extLst>
                </a:gridCol>
                <a:gridCol w="3510699">
                  <a:extLst>
                    <a:ext uri="{9D8B030D-6E8A-4147-A177-3AD203B41FA5}">
                      <a16:colId xmlns:a16="http://schemas.microsoft.com/office/drawing/2014/main" val="2236102374"/>
                    </a:ext>
                  </a:extLst>
                </a:gridCol>
                <a:gridCol w="951692">
                  <a:extLst>
                    <a:ext uri="{9D8B030D-6E8A-4147-A177-3AD203B41FA5}">
                      <a16:colId xmlns:a16="http://schemas.microsoft.com/office/drawing/2014/main" val="4174943099"/>
                    </a:ext>
                  </a:extLst>
                </a:gridCol>
                <a:gridCol w="951692">
                  <a:extLst>
                    <a:ext uri="{9D8B030D-6E8A-4147-A177-3AD203B41FA5}">
                      <a16:colId xmlns:a16="http://schemas.microsoft.com/office/drawing/2014/main" val="2941139222"/>
                    </a:ext>
                  </a:extLst>
                </a:gridCol>
                <a:gridCol w="951692">
                  <a:extLst>
                    <a:ext uri="{9D8B030D-6E8A-4147-A177-3AD203B41FA5}">
                      <a16:colId xmlns:a16="http://schemas.microsoft.com/office/drawing/2014/main" val="774936978"/>
                    </a:ext>
                  </a:extLst>
                </a:gridCol>
                <a:gridCol w="951692">
                  <a:extLst>
                    <a:ext uri="{9D8B030D-6E8A-4147-A177-3AD203B41FA5}">
                      <a16:colId xmlns:a16="http://schemas.microsoft.com/office/drawing/2014/main" val="1773978711"/>
                    </a:ext>
                  </a:extLst>
                </a:gridCol>
                <a:gridCol w="951692">
                  <a:extLst>
                    <a:ext uri="{9D8B030D-6E8A-4147-A177-3AD203B41FA5}">
                      <a16:colId xmlns:a16="http://schemas.microsoft.com/office/drawing/2014/main" val="2001035306"/>
                    </a:ext>
                  </a:extLst>
                </a:gridCol>
                <a:gridCol w="951692">
                  <a:extLst>
                    <a:ext uri="{9D8B030D-6E8A-4147-A177-3AD203B41FA5}">
                      <a16:colId xmlns:a16="http://schemas.microsoft.com/office/drawing/2014/main" val="1971976183"/>
                    </a:ext>
                  </a:extLst>
                </a:gridCol>
              </a:tblGrid>
              <a:tr h="354785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평가 항목</a:t>
                      </a:r>
                      <a:endParaRPr 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내 용</a:t>
                      </a:r>
                      <a:endParaRPr 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평가</a:t>
                      </a:r>
                      <a:endPara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총점</a:t>
                      </a:r>
                      <a:endParaRPr 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413788"/>
                  </a:ext>
                </a:extLst>
              </a:tr>
              <a:tr h="3547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214940"/>
                  </a:ext>
                </a:extLst>
              </a:tr>
              <a:tr h="5349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자기개발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업무에 대한 관심 및 역량개발 노력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○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59260353"/>
                  </a:ext>
                </a:extLst>
              </a:tr>
              <a:tr h="534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책임감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과제 수행에 대한 책임 있는 자세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○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484322"/>
                  </a:ext>
                </a:extLst>
              </a:tr>
              <a:tr h="534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적응력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자발적 업무참여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 직원과의 관계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○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973531"/>
                  </a:ext>
                </a:extLst>
              </a:tr>
              <a:tr h="534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기획력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아이디어 발굴 및 추진 능력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○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271497"/>
                  </a:ext>
                </a:extLst>
              </a:tr>
              <a:tr h="534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성실성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근태 등 기본적인 소양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○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345233"/>
                  </a:ext>
                </a:extLst>
              </a:tr>
              <a:tr h="534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협조성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희생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관심 등 팀워크 융화능력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○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915661"/>
                  </a:ext>
                </a:extLst>
              </a:tr>
              <a:tr h="534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능동성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업무 추진 시 능동적인 자세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○</a:t>
                      </a: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824263"/>
                  </a:ext>
                </a:extLst>
              </a:tr>
              <a:tr h="53493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436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91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B2E7E4-10C1-E2C7-EEC2-EF2E20E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80859-85B4-ED39-1444-9CFFD33D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315FE066-0AEA-971A-DD8E-899E7890BBAA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EE63-5C51-417E-3B38-00A7CC295359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pic>
        <p:nvPicPr>
          <p:cNvPr id="6" name="그래픽 4">
            <a:extLst>
              <a:ext uri="{FF2B5EF4-FFF2-40B4-BE49-F238E27FC236}">
                <a16:creationId xmlns:a16="http://schemas.microsoft.com/office/drawing/2014/main" id="{A29E74A8-A05E-69CA-0764-6C9930D70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A309BC-3E3D-1A19-FC39-D3BD5A90F21B}"/>
              </a:ext>
            </a:extLst>
          </p:cNvPr>
          <p:cNvSpPr txBox="1"/>
          <p:nvPr/>
        </p:nvSpPr>
        <p:spPr>
          <a:xfrm>
            <a:off x="4727207" y="3054751"/>
            <a:ext cx="24449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200" b="1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408854259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buFont typeface="Arial" panose="020B0604020202020204" pitchFamily="34" charset="0"/>
          <a:buChar char="•"/>
          <a:defRPr b="0" i="0" dirty="0" smtClean="0">
            <a:solidFill>
              <a:srgbClr val="373A3C"/>
            </a:solidFill>
            <a:effectLst/>
            <a:latin typeface="Noto Sans" panose="020B0502040504020204" pitchFamily="34" charset="0"/>
            <a:ea typeface="Noto Sans" panose="020B0502040504020204" pitchFamily="34" charset="0"/>
            <a:cs typeface="Noto Sans" panose="020B050204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TM02900743[[fn=자연주의]]</Template>
  <TotalTime>20951</TotalTime>
  <Words>1219</Words>
  <Application>Microsoft Office PowerPoint</Application>
  <PresentationFormat>와이드스크린</PresentationFormat>
  <Paragraphs>273</Paragraphs>
  <Slides>24</Slides>
  <Notes>2</Notes>
  <HiddenSlides>0</HiddenSlides>
  <MMClips>1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24</vt:i4>
      </vt:variant>
    </vt:vector>
  </HeadingPairs>
  <TitlesOfParts>
    <vt:vector size="35" baseType="lpstr">
      <vt:lpstr>Noto Sans KR</vt:lpstr>
      <vt:lpstr>맑은 고딕</vt:lpstr>
      <vt:lpstr>맑은 고딕</vt:lpstr>
      <vt:lpstr>Arial</vt:lpstr>
      <vt:lpstr>Calibri</vt:lpstr>
      <vt:lpstr>Calibri Light</vt:lpstr>
      <vt:lpstr>Noto Sans</vt:lpstr>
      <vt:lpstr>Wingdings</vt:lpstr>
      <vt:lpstr>Wingdings 2</vt:lpstr>
      <vt:lpstr>HDOfficeLightV0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Dong Wonyoung</dc:creator>
  <cp:lastModifiedBy>오유찬</cp:lastModifiedBy>
  <cp:revision>1527</cp:revision>
  <dcterms:created xsi:type="dcterms:W3CDTF">2019-03-04T10:55:32Z</dcterms:created>
  <dcterms:modified xsi:type="dcterms:W3CDTF">2023-11-30T06:07:34Z</dcterms:modified>
</cp:coreProperties>
</file>