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684" r:id="rId2"/>
  </p:sldMasterIdLst>
  <p:notesMasterIdLst>
    <p:notesMasterId r:id="rId10"/>
  </p:notesMasterIdLst>
  <p:sldIdLst>
    <p:sldId id="4448" r:id="rId3"/>
    <p:sldId id="4535" r:id="rId4"/>
    <p:sldId id="4531" r:id="rId5"/>
    <p:sldId id="4532" r:id="rId6"/>
    <p:sldId id="4534" r:id="rId7"/>
    <p:sldId id="4537" r:id="rId8"/>
    <p:sldId id="453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543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4194"/>
    <a:srgbClr val="2E75B5"/>
    <a:srgbClr val="738694"/>
    <a:srgbClr val="697B89"/>
    <a:srgbClr val="97A5AF"/>
    <a:srgbClr val="8898A4"/>
    <a:srgbClr val="EAECEE"/>
    <a:srgbClr val="CBD2D7"/>
    <a:srgbClr val="B6BFC6"/>
    <a:srgbClr val="A6B1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2838BEF-8BB2-4498-84A7-C5851F593DF1}" styleName="보통 스타일 4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보통 스타일 4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C4B1156A-380E-4F78-BDF5-A606A8083BF9}" styleName="보통 스타일 4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08" autoAdjust="0"/>
    <p:restoredTop sz="95214" autoAdjust="0"/>
  </p:normalViewPr>
  <p:slideViewPr>
    <p:cSldViewPr snapToGrid="0" showGuides="1">
      <p:cViewPr>
        <p:scale>
          <a:sx n="100" d="100"/>
          <a:sy n="100" d="100"/>
        </p:scale>
        <p:origin x="228" y="36"/>
      </p:cViewPr>
      <p:guideLst>
        <p:guide orient="horz" pos="3543"/>
        <p:guide pos="38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576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9FFF27-E016-414E-9019-A1AF6FCAFE29}" type="datetimeFigureOut">
              <a:rPr lang="ko-KR" altLang="en-US" smtClean="0"/>
              <a:t>2023-10-30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BD61E-0FA5-4EE6-A895-3F8DC73E05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8001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BD61E-0FA5-4EE6-A895-3F8DC73E050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5000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04ADE41B-7A63-4F6E-9809-B78A90713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8" name="날짜 개체 틀 7">
            <a:extLst>
              <a:ext uri="{FF2B5EF4-FFF2-40B4-BE49-F238E27FC236}">
                <a16:creationId xmlns:a16="http://schemas.microsoft.com/office/drawing/2014/main" id="{7A1740BB-4D50-4403-A6F3-5F4F0D035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바닥글 개체 틀 8">
            <a:extLst>
              <a:ext uri="{FF2B5EF4-FFF2-40B4-BE49-F238E27FC236}">
                <a16:creationId xmlns:a16="http://schemas.microsoft.com/office/drawing/2014/main" id="{BE3CF422-D1D5-4A32-802B-ADE7E367B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altLang="ko-KR"/>
              <a:t>Ettifos Confidential</a:t>
            </a:r>
            <a:endParaRPr lang="ko-KR" altLang="en-US" dirty="0"/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AFC95B5D-CD1C-4B4A-9661-EA8F61D0F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543-08BB-43E3-B4C7-79409ADD447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D617DE7-08B8-4F8B-9898-30A2E22A256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06"/>
          <a:stretch/>
        </p:blipFill>
        <p:spPr>
          <a:xfrm>
            <a:off x="10848375" y="132867"/>
            <a:ext cx="1203824" cy="47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390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Ettifos Confidential</a:t>
            </a: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543-08BB-43E3-B4C7-79409ADD447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A7526B9-5F92-4550-A3B9-807DFB2D2B5A}"/>
              </a:ext>
            </a:extLst>
          </p:cNvPr>
          <p:cNvSpPr/>
          <p:nvPr userDrawn="1"/>
        </p:nvSpPr>
        <p:spPr>
          <a:xfrm>
            <a:off x="0" y="677863"/>
            <a:ext cx="8617527" cy="69549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E88048F-DBA0-43DB-B031-9FF59E55EC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06"/>
          <a:stretch/>
        </p:blipFill>
        <p:spPr>
          <a:xfrm>
            <a:off x="10848375" y="132867"/>
            <a:ext cx="1203824" cy="47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685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Ettifos Confidential</a:t>
            </a: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543-08BB-43E3-B4C7-79409ADD44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762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Ettifos Confidential</a:t>
            </a: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543-08BB-43E3-B4C7-79409ADD44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4526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Ettifos Confidential</a:t>
            </a:r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543-08BB-43E3-B4C7-79409ADD447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0838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Ettifos Confidential</a:t>
            </a:r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543-08BB-43E3-B4C7-79409ADD447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574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50044" y="6356350"/>
            <a:ext cx="2986087" cy="365125"/>
          </a:xfrm>
        </p:spPr>
        <p:txBody>
          <a:bodyPr/>
          <a:lstStyle>
            <a:lvl1pPr algn="l">
              <a:defRPr>
                <a:latin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n-US" altLang="ko-KR">
                <a:ea typeface="Noto Sans" panose="020B0502040504020204" pitchFamily="34" charset="0"/>
              </a:rPr>
              <a:t>Ettifos Confidential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7527" y="6356350"/>
            <a:ext cx="3170586" cy="365125"/>
          </a:xfrm>
        </p:spPr>
        <p:txBody>
          <a:bodyPr/>
          <a:lstStyle>
            <a:lvl1pPr>
              <a:defRPr>
                <a:latin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fld id="{C2DFF543-08BB-43E3-B4C7-79409ADD447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967ADA2-D291-481D-A149-DB935DEE9176}"/>
              </a:ext>
            </a:extLst>
          </p:cNvPr>
          <p:cNvSpPr/>
          <p:nvPr userDrawn="1"/>
        </p:nvSpPr>
        <p:spPr>
          <a:xfrm>
            <a:off x="0" y="1"/>
            <a:ext cx="12192000" cy="678298"/>
          </a:xfrm>
          <a:prstGeom prst="rect">
            <a:avLst/>
          </a:prstGeom>
          <a:solidFill>
            <a:srgbClr val="2E75B5"/>
          </a:solidFill>
          <a:ln>
            <a:solidFill>
              <a:srgbClr val="2E75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6D3A9C-F1A1-46AB-9EBD-5B38D48CC2B2}"/>
              </a:ext>
            </a:extLst>
          </p:cNvPr>
          <p:cNvSpPr txBox="1"/>
          <p:nvPr userDrawn="1"/>
        </p:nvSpPr>
        <p:spPr>
          <a:xfrm>
            <a:off x="403887" y="108318"/>
            <a:ext cx="9645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To-Do list</a:t>
            </a:r>
            <a:endParaRPr lang="ko-KR" altLang="en-US" sz="2400" dirty="0">
              <a:solidFill>
                <a:schemeClr val="bg1">
                  <a:lumMod val="95000"/>
                </a:schemeClr>
              </a:solidFill>
              <a:latin typeface="Noto Sans" panose="020B0502040504020204" pitchFamily="34" charset="0"/>
              <a:ea typeface="KoPub돋움체 Medium" panose="00000600000000000000" pitchFamily="2" charset="-127"/>
              <a:cs typeface="Noto Sans" panose="020B0502040504020204" pitchFamily="34" charset="0"/>
            </a:endParaRPr>
          </a:p>
        </p:txBody>
      </p:sp>
      <p:pic>
        <p:nvPicPr>
          <p:cNvPr id="7" name="그래픽 6">
            <a:extLst>
              <a:ext uri="{FF2B5EF4-FFF2-40B4-BE49-F238E27FC236}">
                <a16:creationId xmlns:a16="http://schemas.microsoft.com/office/drawing/2014/main" id="{AD8E8176-F7A8-431F-BEA0-B87B7529ED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6437" y="124232"/>
            <a:ext cx="1141676" cy="429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735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Ettifos Confidential</a:t>
            </a: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543-08BB-43E3-B4C7-79409ADD44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8042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Ettifos Confidential</a:t>
            </a: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543-08BB-43E3-B4C7-79409ADD44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9418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Ettifos Confidential</a:t>
            </a: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543-08BB-43E3-B4C7-79409ADD44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7926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Ettifos Confidential</a:t>
            </a: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543-08BB-43E3-B4C7-79409ADD44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6436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8069B9-1B3E-4385-B88B-2552CE6022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F03B991-1E8F-4B6D-99AE-7D1F6935F3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0F2455-7D1A-41E3-A767-632FC30D2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FA51D0-6CDD-453B-BE8F-2A14BD978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Ettifos Confidential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7D0788-8EF4-4FB3-8ABC-D44A5752D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21CB-EE45-4F56-A39E-F3787969B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72540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F27D5E-26B0-4383-BDC4-505C67388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42B624-AFA4-4B43-88E8-51D50994D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8408FD-D1E9-4C35-8328-23BC74A49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F73B69-7886-4AF5-A94D-40E454D4F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Ettifos Confidential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B6F3B0-74F6-460F-B906-8BDC35791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21CB-EE45-4F56-A39E-F3787969B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02228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7F9EAA-A5D4-4639-A241-CC32906CA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43C6C0-4F59-4896-BA44-A555B2F88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1FBC5D-136E-4191-9B64-CC3203341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CDEE7A-A0BF-418E-A4FC-F4274BDE0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Ettifos Confidential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EF991A-6B73-4C58-AB3F-2A63E7AC2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21CB-EE45-4F56-A39E-F3787969B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67819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19E2D8-643F-4216-B778-A13380E66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725465-09E3-49B3-88DF-56583C40FF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A6A9071-ED87-4163-8C46-FEB7BD236A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31C3DE3-9125-4DA6-8ABB-66B03A691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E457255-7CA6-453D-BF2D-F0BEC5E40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Ettifos Confidential</a:t>
            </a: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63ADB93-ECBE-4C6E-85D4-710E52373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21CB-EE45-4F56-A39E-F3787969B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49411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B128AB-7148-4A8C-88B8-9D8DFD572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D10183-FB84-4E4A-A327-67B534756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484A0E-8869-4533-8CBE-18BA0FB70D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4F972D4-8A2E-44B5-AE17-78C04AB70F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82183D8-A220-4E5F-A9AF-66AED4F584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3FF2B26-69B0-4EE8-BCA6-186227A5E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27CE073-22C7-4BEB-A6F5-6CF817033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Ettifos Confidential</a:t>
            </a:r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FF7F5EC-094C-450A-A5C8-FBDD336B5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21CB-EE45-4F56-A39E-F3787969B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23557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24A6B0-B591-4393-A660-ED5221F7B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134F458-575A-4C22-BF15-C7A2C41E5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28EFF13-050F-47E4-A708-93544B29D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Ettifos Confidential</a:t>
            </a:r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DF7B808-184E-4F02-87AD-E3F285F5B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21CB-EE45-4F56-A39E-F3787969B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09001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B75CDDE-9926-4A81-8426-13C46F446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9C76F76-A450-4D22-9F97-C39FBD30F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Ettifos Confidential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6B0F01-C29D-4707-A34E-6DB23D9AF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21CB-EE45-4F56-A39E-F3787969B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05342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022AA1-159E-4E3E-9A24-6B74859D2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9FDDAF-1F3E-4B23-AC44-19BAF27D2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A061FA5-6244-4B10-8F49-A94B14859F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45DDE6-0204-4177-9C55-C81C88277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3B76C78-16DA-4575-B4ED-6537D91E3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Ettifos Confidential</a:t>
            </a: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43CB9EF-A283-48A7-B1D9-8EC649B24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21CB-EE45-4F56-A39E-F3787969B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77548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B1F0E0-D67D-46B7-973A-CBB55A601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192513A-8E3B-49EA-90CA-60B9498EE2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30E4F2F-62FE-4A9C-B1F7-908C4F09E7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520B644-BDB0-4664-875E-85569903C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222C45-834F-49F0-BC75-75AFA9C54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Ettifos Confidential</a:t>
            </a: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9C101A-659B-41E2-808B-32F4AEDCA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21CB-EE45-4F56-A39E-F3787969B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99497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4B1305-3ED4-4CD4-B934-1F11CBDA4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5D1CF8A-6064-47DE-97ED-AE6F3A9D3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532686-6ECC-4F17-A0C2-FD1A75C5D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68F0F0-68FD-444B-BAF6-26022B090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Ettifos Confidential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BEA4DD-3C7A-47DA-9CD6-E7653547F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21CB-EE45-4F56-A39E-F3787969B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2804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9E77E40-8AE7-468A-BD89-9C6CA546A0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99A4126-9160-498C-A0DB-1173B8FD97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0911A5-D739-4CE5-BAB4-6EBCD232D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C05578-1B3B-4C9B-AF99-72A369822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Ettifos Confidential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8F9F21-5793-49BF-8403-93C38A1AF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21CB-EE45-4F56-A39E-F3787969B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1683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altLang="ko-KR"/>
              <a:t>Ettifos Confidential</a:t>
            </a: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DFF543-08BB-43E3-B4C7-79409ADD447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66DF2923-11A8-4F2C-B6E7-B06FBC54BDF6}"/>
              </a:ext>
            </a:extLst>
          </p:cNvPr>
          <p:cNvSpPr txBox="1">
            <a:spLocks/>
          </p:cNvSpPr>
          <p:nvPr userDrawn="1"/>
        </p:nvSpPr>
        <p:spPr>
          <a:xfrm>
            <a:off x="4925678" y="6538912"/>
            <a:ext cx="2242838" cy="182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ko-KR" altLang="en-US" sz="1100" b="1" dirty="0" err="1">
                <a:solidFill>
                  <a:srgbClr val="FF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서돌전자통시</a:t>
            </a:r>
            <a:r>
              <a:rPr lang="en-US" altLang="ko-KR" sz="1100" b="1" dirty="0">
                <a:solidFill>
                  <a:srgbClr val="FF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</a:t>
            </a:r>
            <a:r>
              <a:rPr lang="ko-KR" altLang="en-US" sz="1100" b="1" dirty="0" err="1">
                <a:solidFill>
                  <a:srgbClr val="FF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에티포스</a:t>
            </a:r>
            <a:r>
              <a:rPr lang="ko-KR" altLang="en-US" sz="1100" b="1" dirty="0">
                <a:solidFill>
                  <a:srgbClr val="FF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대외비</a:t>
            </a:r>
            <a:endParaRPr lang="en-US" altLang="ko-KR" sz="1100" b="1" dirty="0">
              <a:solidFill>
                <a:srgbClr val="FF0000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223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DB8D69A-DE51-408E-9170-E6F148566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96D175-4B2B-4687-A711-938B13559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C9926D-67D8-4149-8C9B-701CBF3D8E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B3096A-1405-4FEF-92B6-CE481CC6B4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/>
              <a:t>Ettifos Confidential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4F2042-2870-42EA-BAE5-8D6B91B8CF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5B21CB-EE45-4F56-A39E-F3787969B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536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0DCA561-FD7A-48C1-A39E-61CFA89FAF2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57000">
                <a:srgbClr val="3B87CD"/>
              </a:gs>
              <a:gs pos="0">
                <a:srgbClr val="266196"/>
              </a:gs>
              <a:gs pos="100000">
                <a:srgbClr val="A6C9E8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95000"/>
                </a:schemeClr>
              </a:solidFill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2A22FE-FE86-4DF7-B19E-C531D03F626A}"/>
              </a:ext>
            </a:extLst>
          </p:cNvPr>
          <p:cNvSpPr txBox="1"/>
          <p:nvPr/>
        </p:nvSpPr>
        <p:spPr>
          <a:xfrm>
            <a:off x="648183" y="295155"/>
            <a:ext cx="3408912" cy="40011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Bold" panose="00000800000000000000" pitchFamily="2" charset="-127"/>
                <a:cs typeface="Noto Sans" panose="020B0502040504020204" pitchFamily="34" charset="0"/>
              </a:rPr>
              <a:t>Internal Manual</a:t>
            </a:r>
            <a:endParaRPr lang="ko-KR" altLang="en-US" sz="2000" dirty="0">
              <a:solidFill>
                <a:schemeClr val="bg1">
                  <a:lumMod val="95000"/>
                </a:schemeClr>
              </a:solidFill>
              <a:latin typeface="Noto Sans" panose="020B0502040504020204" pitchFamily="34" charset="0"/>
              <a:ea typeface="KoPub돋움체 Bold" panose="00000800000000000000" pitchFamily="2" charset="-127"/>
              <a:cs typeface="Noto Sans" panose="020B0502040504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BD73F4-248A-4AA4-8EBC-88F004D9D343}"/>
              </a:ext>
            </a:extLst>
          </p:cNvPr>
          <p:cNvSpPr txBox="1"/>
          <p:nvPr/>
        </p:nvSpPr>
        <p:spPr>
          <a:xfrm>
            <a:off x="648181" y="4781659"/>
            <a:ext cx="2848598" cy="1141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SW2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Oct 2023</a:t>
            </a:r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6D719A1D-A16B-4F4C-A7D3-1147021E71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79778" y="5056307"/>
            <a:ext cx="3698728" cy="8472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F0CF3B-0919-4F66-96BF-31C7132F89A4}"/>
              </a:ext>
            </a:extLst>
          </p:cNvPr>
          <p:cNvSpPr txBox="1"/>
          <p:nvPr/>
        </p:nvSpPr>
        <p:spPr>
          <a:xfrm>
            <a:off x="648181" y="1093808"/>
            <a:ext cx="843050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광주 </a:t>
            </a:r>
            <a:r>
              <a:rPr lang="en-US" altLang="ko-KR" sz="40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SW</a:t>
            </a:r>
            <a:r>
              <a:rPr lang="ko-KR" altLang="en-US" sz="40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ko-KR" altLang="en-US" sz="4000" b="1" dirty="0" err="1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마이스터고</a:t>
            </a:r>
            <a:br>
              <a:rPr lang="en-US" altLang="ko-KR" sz="40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r>
              <a:rPr lang="ko-KR" altLang="en-US" sz="4000" b="1" dirty="0" err="1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오유찬</a:t>
            </a:r>
            <a:r>
              <a:rPr lang="ko-KR" altLang="en-US" sz="40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인턴 </a:t>
            </a:r>
            <a:r>
              <a:rPr lang="en-US" altLang="ko-KR" sz="40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- </a:t>
            </a:r>
            <a:r>
              <a:rPr lang="ko-KR" altLang="en-US" sz="40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과제 </a:t>
            </a:r>
            <a:r>
              <a:rPr lang="en-US" altLang="ko-KR" sz="40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01 </a:t>
            </a:r>
            <a:br>
              <a:rPr lang="en-US" altLang="ko-KR" sz="40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r>
              <a:rPr lang="en-US" altLang="ko-KR" sz="40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SNAKE </a:t>
            </a:r>
            <a:r>
              <a:rPr lang="ko-KR" altLang="en-US" sz="40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게임 소스 코드 분석</a:t>
            </a:r>
            <a:endParaRPr lang="en-US" altLang="ko-KR" sz="4000" b="1" dirty="0">
              <a:solidFill>
                <a:schemeClr val="bg1">
                  <a:lumMod val="95000"/>
                </a:schemeClr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" name="바닥글 개체 틀 8">
            <a:extLst>
              <a:ext uri="{FF2B5EF4-FFF2-40B4-BE49-F238E27FC236}">
                <a16:creationId xmlns:a16="http://schemas.microsoft.com/office/drawing/2014/main" id="{AF82B927-5F37-42C4-8AEF-A5FE92DCC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ea typeface="Noto Sans" panose="020B0502040504020204" pitchFamily="34" charset="0"/>
              </a:rPr>
              <a:t>Ettifos Confidential</a:t>
            </a:r>
            <a:endParaRPr lang="ko-KR" altLang="en-US"/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E8717878-37B4-4570-87AF-F481C2863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543-08BB-43E3-B4C7-79409ADD4471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2579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2B2E7E4-10C1-E2C7-EEC2-EF2E20ED6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ea typeface="Noto Sans" panose="020B0502040504020204" pitchFamily="34" charset="0"/>
              </a:rPr>
              <a:t>Ettifos Confidential</a:t>
            </a:r>
            <a:endParaRPr lang="ko-KR" alt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A80859-85B4-ED39-1444-9CFFD33DA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543-08BB-43E3-B4C7-79409ADD4471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4" name="직사각형 2">
            <a:extLst>
              <a:ext uri="{FF2B5EF4-FFF2-40B4-BE49-F238E27FC236}">
                <a16:creationId xmlns:a16="http://schemas.microsoft.com/office/drawing/2014/main" id="{315FE066-0AEA-971A-DD8E-899E7890BBAA}"/>
              </a:ext>
            </a:extLst>
          </p:cNvPr>
          <p:cNvSpPr/>
          <p:nvPr/>
        </p:nvSpPr>
        <p:spPr>
          <a:xfrm>
            <a:off x="0" y="1"/>
            <a:ext cx="12192000" cy="678298"/>
          </a:xfrm>
          <a:prstGeom prst="rect">
            <a:avLst/>
          </a:prstGeom>
          <a:solidFill>
            <a:srgbClr val="2E75B5"/>
          </a:solidFill>
          <a:ln>
            <a:solidFill>
              <a:srgbClr val="2E75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9BEE63-5C51-417E-3B38-00A7CC295359}"/>
              </a:ext>
            </a:extLst>
          </p:cNvPr>
          <p:cNvSpPr txBox="1"/>
          <p:nvPr/>
        </p:nvSpPr>
        <p:spPr>
          <a:xfrm>
            <a:off x="403887" y="108318"/>
            <a:ext cx="9645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소스 코드 분석을 위한 환경</a:t>
            </a:r>
          </a:p>
        </p:txBody>
      </p:sp>
      <p:pic>
        <p:nvPicPr>
          <p:cNvPr id="6" name="그래픽 4">
            <a:extLst>
              <a:ext uri="{FF2B5EF4-FFF2-40B4-BE49-F238E27FC236}">
                <a16:creationId xmlns:a16="http://schemas.microsoft.com/office/drawing/2014/main" id="{A29E74A8-A05E-69CA-0764-6C9930D702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51673" y="125659"/>
            <a:ext cx="1864038" cy="426982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0421334-C204-4C8E-F7B8-E8C0E7E4E635}"/>
              </a:ext>
            </a:extLst>
          </p:cNvPr>
          <p:cNvGrpSpPr/>
          <p:nvPr/>
        </p:nvGrpSpPr>
        <p:grpSpPr>
          <a:xfrm>
            <a:off x="527050" y="1797050"/>
            <a:ext cx="7812103" cy="962541"/>
            <a:chOff x="527050" y="1117600"/>
            <a:chExt cx="7812103" cy="96254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4A309BC-3E3D-1A19-FC39-D3BD5A90F21B}"/>
                </a:ext>
              </a:extLst>
            </p:cNvPr>
            <p:cNvSpPr txBox="1"/>
            <p:nvPr/>
          </p:nvSpPr>
          <p:spPr>
            <a:xfrm>
              <a:off x="527050" y="1117600"/>
              <a:ext cx="19362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/>
                <a:t>Ubuntu </a:t>
              </a:r>
              <a:r>
                <a:rPr lang="ko-KR" altLang="en-US" b="1" dirty="0"/>
                <a:t>환경 구성</a:t>
              </a:r>
              <a:endParaRPr lang="en-US" altLang="ko-KR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07086EC-BC81-A535-5E19-371C203E092C}"/>
                </a:ext>
              </a:extLst>
            </p:cNvPr>
            <p:cNvSpPr txBox="1"/>
            <p:nvPr/>
          </p:nvSpPr>
          <p:spPr>
            <a:xfrm>
              <a:off x="2236803" y="1710809"/>
              <a:ext cx="61023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https://www.yalco.kr/_01_install_wsl/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2B5D897-50E4-D043-85F6-26B95E82C25B}"/>
                </a:ext>
              </a:extLst>
            </p:cNvPr>
            <p:cNvSpPr txBox="1"/>
            <p:nvPr/>
          </p:nvSpPr>
          <p:spPr>
            <a:xfrm>
              <a:off x="967317" y="1710809"/>
              <a:ext cx="1330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/>
                <a:t>참고 링크 </a:t>
              </a:r>
              <a:r>
                <a:rPr lang="en-US" altLang="ko-KR" b="1" dirty="0"/>
                <a:t>: 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80C878-8F5C-B81B-C2D1-453DFB684F9D}"/>
              </a:ext>
            </a:extLst>
          </p:cNvPr>
          <p:cNvGrpSpPr/>
          <p:nvPr/>
        </p:nvGrpSpPr>
        <p:grpSpPr>
          <a:xfrm>
            <a:off x="527050" y="4042310"/>
            <a:ext cx="7874701" cy="846376"/>
            <a:chOff x="527050" y="2963326"/>
            <a:chExt cx="7874701" cy="846376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FAE16F6-ADE6-B324-EDC9-339D56678F26}"/>
                </a:ext>
              </a:extLst>
            </p:cNvPr>
            <p:cNvSpPr txBox="1"/>
            <p:nvPr/>
          </p:nvSpPr>
          <p:spPr>
            <a:xfrm>
              <a:off x="527050" y="2963326"/>
              <a:ext cx="24817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/>
                <a:t>Visual Studio Code </a:t>
              </a:r>
              <a:r>
                <a:rPr lang="ko-KR" altLang="en-US" b="1" dirty="0"/>
                <a:t>설치</a:t>
              </a:r>
              <a:endParaRPr lang="en-US" altLang="ko-KR" b="1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B95D15E-E61E-880F-913E-965835656A6B}"/>
                </a:ext>
              </a:extLst>
            </p:cNvPr>
            <p:cNvSpPr txBox="1"/>
            <p:nvPr/>
          </p:nvSpPr>
          <p:spPr>
            <a:xfrm>
              <a:off x="2298131" y="3440370"/>
              <a:ext cx="61036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https://code.visualstudio.com/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52C199C-E602-980B-F00C-01E9205D01F8}"/>
                </a:ext>
              </a:extLst>
            </p:cNvPr>
            <p:cNvSpPr txBox="1"/>
            <p:nvPr/>
          </p:nvSpPr>
          <p:spPr>
            <a:xfrm>
              <a:off x="967317" y="3431570"/>
              <a:ext cx="1330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/>
                <a:t>참고 링크 </a:t>
              </a:r>
              <a:r>
                <a:rPr lang="en-US" altLang="ko-KR" b="1" dirty="0"/>
                <a:t>: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7484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2B2E7E4-10C1-E2C7-EEC2-EF2E20ED6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ea typeface="Noto Sans" panose="020B0502040504020204" pitchFamily="34" charset="0"/>
              </a:rPr>
              <a:t>Ettifos Confidential</a:t>
            </a:r>
            <a:endParaRPr lang="ko-KR" alt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A80859-85B4-ED39-1444-9CFFD33DA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543-08BB-43E3-B4C7-79409ADD4471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4" name="직사각형 2">
            <a:extLst>
              <a:ext uri="{FF2B5EF4-FFF2-40B4-BE49-F238E27FC236}">
                <a16:creationId xmlns:a16="http://schemas.microsoft.com/office/drawing/2014/main" id="{315FE066-0AEA-971A-DD8E-899E7890BBAA}"/>
              </a:ext>
            </a:extLst>
          </p:cNvPr>
          <p:cNvSpPr/>
          <p:nvPr/>
        </p:nvSpPr>
        <p:spPr>
          <a:xfrm>
            <a:off x="0" y="1"/>
            <a:ext cx="12192000" cy="678298"/>
          </a:xfrm>
          <a:prstGeom prst="rect">
            <a:avLst/>
          </a:prstGeom>
          <a:solidFill>
            <a:srgbClr val="2E75B5"/>
          </a:solidFill>
          <a:ln>
            <a:solidFill>
              <a:srgbClr val="2E75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9BEE63-5C51-417E-3B38-00A7CC295359}"/>
              </a:ext>
            </a:extLst>
          </p:cNvPr>
          <p:cNvSpPr txBox="1"/>
          <p:nvPr/>
        </p:nvSpPr>
        <p:spPr>
          <a:xfrm>
            <a:off x="403887" y="108318"/>
            <a:ext cx="9645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DEMO EXAMPLE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Noto Sans" panose="020B0502040504020204" pitchFamily="34" charset="0"/>
              <a:ea typeface="KoPub돋움체 Medium" panose="00000600000000000000" pitchFamily="2" charset="-127"/>
              <a:cs typeface="Noto Sans" panose="020B0502040504020204" pitchFamily="34" charset="0"/>
            </a:endParaRPr>
          </a:p>
        </p:txBody>
      </p:sp>
      <p:pic>
        <p:nvPicPr>
          <p:cNvPr id="6" name="그래픽 4">
            <a:extLst>
              <a:ext uri="{FF2B5EF4-FFF2-40B4-BE49-F238E27FC236}">
                <a16:creationId xmlns:a16="http://schemas.microsoft.com/office/drawing/2014/main" id="{A29E74A8-A05E-69CA-0764-6C9930D702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51673" y="125659"/>
            <a:ext cx="1864038" cy="42698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8372B82-A612-D559-6E37-B3B12C0FBD13}"/>
              </a:ext>
            </a:extLst>
          </p:cNvPr>
          <p:cNvSpPr txBox="1"/>
          <p:nvPr/>
        </p:nvSpPr>
        <p:spPr>
          <a:xfrm>
            <a:off x="6096000" y="949023"/>
            <a:ext cx="12779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latin typeface="Noto Sans" panose="020B0502040504020204" pitchFamily="34" charset="0"/>
                <a:cs typeface="Noto Sans" panose="020B0502040504020204" pitchFamily="34" charset="0"/>
              </a:rPr>
              <a:t>게임 화면</a:t>
            </a:r>
            <a:endParaRPr lang="en-US" altLang="ko-KR" sz="2000" b="1" dirty="0"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47BE71-C085-1748-4819-20D4347E85EF}"/>
              </a:ext>
            </a:extLst>
          </p:cNvPr>
          <p:cNvSpPr txBox="1"/>
          <p:nvPr/>
        </p:nvSpPr>
        <p:spPr>
          <a:xfrm>
            <a:off x="6080020" y="3214240"/>
            <a:ext cx="12779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latin typeface="Noto Sans" panose="020B0502040504020204" pitchFamily="34" charset="0"/>
                <a:cs typeface="Noto Sans" panose="020B0502040504020204" pitchFamily="34" charset="0"/>
              </a:rPr>
              <a:t>조작 방법</a:t>
            </a:r>
            <a:endParaRPr lang="en-US" sz="20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014F166-DAFA-4F59-E311-4FE275304DF3}"/>
              </a:ext>
            </a:extLst>
          </p:cNvPr>
          <p:cNvGrpSpPr/>
          <p:nvPr/>
        </p:nvGrpSpPr>
        <p:grpSpPr>
          <a:xfrm>
            <a:off x="7348156" y="4199277"/>
            <a:ext cx="761907" cy="738664"/>
            <a:chOff x="6521770" y="3414295"/>
            <a:chExt cx="761907" cy="738664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A6A803D-C233-A289-36B2-B576AE36D9F6}"/>
                </a:ext>
              </a:extLst>
            </p:cNvPr>
            <p:cNvSpPr txBox="1"/>
            <p:nvPr/>
          </p:nvSpPr>
          <p:spPr>
            <a:xfrm>
              <a:off x="6531548" y="3783627"/>
              <a:ext cx="7521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: A(a)</a:t>
              </a:r>
              <a:endParaRPr lang="en-US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867B43C-E6D1-02DA-EB21-DE6478B28F06}"/>
                </a:ext>
              </a:extLst>
            </p:cNvPr>
            <p:cNvSpPr txBox="1"/>
            <p:nvPr/>
          </p:nvSpPr>
          <p:spPr>
            <a:xfrm>
              <a:off x="6521770" y="3414295"/>
              <a:ext cx="41549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+mj-ea"/>
                  <a:ea typeface="+mj-ea"/>
                </a:rPr>
                <a:t>←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7A6F533-3ECE-B078-493C-035BF25C314F}"/>
              </a:ext>
            </a:extLst>
          </p:cNvPr>
          <p:cNvGrpSpPr/>
          <p:nvPr/>
        </p:nvGrpSpPr>
        <p:grpSpPr>
          <a:xfrm>
            <a:off x="9672297" y="4157674"/>
            <a:ext cx="808394" cy="712229"/>
            <a:chOff x="6479919" y="3723549"/>
            <a:chExt cx="808394" cy="712229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B047269-7ED1-E119-130A-EC0C8CB442DA}"/>
                </a:ext>
              </a:extLst>
            </p:cNvPr>
            <p:cNvSpPr txBox="1"/>
            <p:nvPr/>
          </p:nvSpPr>
          <p:spPr>
            <a:xfrm>
              <a:off x="6479919" y="3723549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  <a:cs typeface="Noto Sans" panose="020B0502040504020204" pitchFamily="34" charset="0"/>
                </a:rPr>
                <a:t>→</a:t>
              </a:r>
              <a:endParaRPr lang="en-US" dirty="0">
                <a:latin typeface="+mj-ea"/>
                <a:ea typeface="+mj-ea"/>
                <a:cs typeface="Noto Sans" panose="020B0502040504020204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ADC45B9-82F6-8D83-2BE3-D6D2E66DD735}"/>
                </a:ext>
              </a:extLst>
            </p:cNvPr>
            <p:cNvSpPr txBox="1"/>
            <p:nvPr/>
          </p:nvSpPr>
          <p:spPr>
            <a:xfrm>
              <a:off x="6502520" y="4066446"/>
              <a:ext cx="7857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: D(d)</a:t>
              </a:r>
              <a:endParaRPr lang="en-US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740048C-C91F-A63E-32DF-003679DDD5DD}"/>
              </a:ext>
            </a:extLst>
          </p:cNvPr>
          <p:cNvGrpSpPr/>
          <p:nvPr/>
        </p:nvGrpSpPr>
        <p:grpSpPr>
          <a:xfrm>
            <a:off x="8128993" y="3564068"/>
            <a:ext cx="1333031" cy="369332"/>
            <a:chOff x="6516838" y="4032803"/>
            <a:chExt cx="1333031" cy="36933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D533270-762E-8266-DAD7-BF79C74F252E}"/>
                </a:ext>
              </a:extLst>
            </p:cNvPr>
            <p:cNvSpPr txBox="1"/>
            <p:nvPr/>
          </p:nvSpPr>
          <p:spPr>
            <a:xfrm>
              <a:off x="6516838" y="4032803"/>
              <a:ext cx="4042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  <a:cs typeface="Noto Sans" panose="020B0502040504020204" pitchFamily="34" charset="0"/>
                </a:rPr>
                <a:t>↑</a:t>
              </a:r>
              <a:endParaRPr lang="en-US" dirty="0">
                <a:latin typeface="+mj-ea"/>
                <a:ea typeface="+mj-ea"/>
                <a:cs typeface="Noto Sans" panose="020B050204050402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FCACB73-D16D-F3FF-8530-D0C8634A8073}"/>
                </a:ext>
              </a:extLst>
            </p:cNvPr>
            <p:cNvSpPr txBox="1"/>
            <p:nvPr/>
          </p:nvSpPr>
          <p:spPr>
            <a:xfrm>
              <a:off x="6979118" y="4032803"/>
              <a:ext cx="8707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: W(w)</a:t>
              </a:r>
              <a:endParaRPr lang="en-US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94FFF03-EA15-9BE3-ACAC-D1382B6C5760}"/>
              </a:ext>
            </a:extLst>
          </p:cNvPr>
          <p:cNvGrpSpPr/>
          <p:nvPr/>
        </p:nvGrpSpPr>
        <p:grpSpPr>
          <a:xfrm>
            <a:off x="8128993" y="4182140"/>
            <a:ext cx="1174334" cy="369332"/>
            <a:chOff x="6516838" y="4342057"/>
            <a:chExt cx="1174334" cy="369332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54CE356-7B32-2306-2BDC-83B76F08733F}"/>
                </a:ext>
              </a:extLst>
            </p:cNvPr>
            <p:cNvSpPr txBox="1"/>
            <p:nvPr/>
          </p:nvSpPr>
          <p:spPr>
            <a:xfrm>
              <a:off x="6516838" y="4342057"/>
              <a:ext cx="4042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  <a:cs typeface="Noto Sans" panose="020B0502040504020204" pitchFamily="34" charset="0"/>
                </a:rPr>
                <a:t>↓</a:t>
              </a:r>
              <a:endParaRPr lang="en-US" dirty="0">
                <a:latin typeface="+mj-ea"/>
                <a:ea typeface="+mj-ea"/>
                <a:cs typeface="Noto Sans" panose="020B0502040504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60F8556-BD25-4F78-3067-7B3B793EAFF3}"/>
                </a:ext>
              </a:extLst>
            </p:cNvPr>
            <p:cNvSpPr txBox="1"/>
            <p:nvPr/>
          </p:nvSpPr>
          <p:spPr>
            <a:xfrm>
              <a:off x="6979118" y="4342057"/>
              <a:ext cx="7120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: S(s)</a:t>
              </a:r>
              <a:endParaRPr lang="en-US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FBB7478E-235A-0B10-D219-DBBC2A7EE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995" y="1160995"/>
            <a:ext cx="5463395" cy="4564517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0A8A8B57-BC1A-9C8B-73AF-46D2D78D3C83}"/>
              </a:ext>
            </a:extLst>
          </p:cNvPr>
          <p:cNvSpPr txBox="1"/>
          <p:nvPr/>
        </p:nvSpPr>
        <p:spPr>
          <a:xfrm>
            <a:off x="6096000" y="5181884"/>
            <a:ext cx="12779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게임 설명</a:t>
            </a:r>
            <a:endParaRPr lang="en-US" sz="20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E3FC96A-F746-5142-4C03-7394F2A5623D}"/>
              </a:ext>
            </a:extLst>
          </p:cNvPr>
          <p:cNvSpPr txBox="1"/>
          <p:nvPr/>
        </p:nvSpPr>
        <p:spPr>
          <a:xfrm>
            <a:off x="6412753" y="5597985"/>
            <a:ext cx="5763116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W, A, S, D </a:t>
            </a:r>
            <a:r>
              <a:rPr lang="ko-KR" altLang="en-US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로 이동하여 아이템 획득 시 캐릭터의 길이가</a:t>
            </a:r>
            <a:endParaRPr lang="en-US" altLang="ko-KR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늘어나며 최대 점수를 획득하는 게임</a:t>
            </a:r>
            <a:r>
              <a:rPr lang="en-US" altLang="ko-K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  <a:endParaRPr lang="en-US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9D8985A-5E5C-504A-9A84-7331626A4DCB}"/>
              </a:ext>
            </a:extLst>
          </p:cNvPr>
          <p:cNvSpPr txBox="1"/>
          <p:nvPr/>
        </p:nvSpPr>
        <p:spPr>
          <a:xfrm>
            <a:off x="6412753" y="1370734"/>
            <a:ext cx="6102350" cy="1709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 캐릭터 </a:t>
            </a:r>
            <a:r>
              <a:rPr lang="en-US" altLang="ko-KR" dirty="0"/>
              <a:t>: 0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</a:t>
            </a:r>
            <a:r>
              <a:rPr lang="ko-KR" altLang="en-US" dirty="0"/>
              <a:t>아이템 </a:t>
            </a:r>
            <a:r>
              <a:rPr lang="en-US" altLang="ko-KR" dirty="0"/>
              <a:t>: @</a:t>
            </a:r>
            <a:br>
              <a:rPr lang="en-US" altLang="ko-KR" dirty="0"/>
            </a:br>
            <a:r>
              <a:rPr lang="en-US" altLang="ko-KR" dirty="0"/>
              <a:t> </a:t>
            </a:r>
            <a:r>
              <a:rPr lang="ko-KR" altLang="en-US" dirty="0"/>
              <a:t>장애물 </a:t>
            </a:r>
            <a:r>
              <a:rPr lang="en-US" altLang="ko-KR" dirty="0"/>
              <a:t>: X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Score : </a:t>
            </a:r>
            <a:r>
              <a:rPr lang="ko-KR" altLang="en-US" dirty="0"/>
              <a:t>점수</a:t>
            </a:r>
            <a:r>
              <a:rPr lang="en-US" altLang="ko-KR" dirty="0"/>
              <a:t>(</a:t>
            </a:r>
            <a:r>
              <a:rPr lang="ko-KR" altLang="en-US" dirty="0"/>
              <a:t>초당 </a:t>
            </a:r>
            <a:r>
              <a:rPr lang="en-US" altLang="ko-KR" dirty="0"/>
              <a:t>10)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6669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2B2E7E4-10C1-E2C7-EEC2-EF2E20ED6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ea typeface="Noto Sans" panose="020B0502040504020204" pitchFamily="34" charset="0"/>
              </a:rPr>
              <a:t>Ettifos Confidential</a:t>
            </a:r>
            <a:endParaRPr lang="ko-KR" alt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A80859-85B4-ED39-1444-9CFFD33DA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543-08BB-43E3-B4C7-79409ADD4471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4" name="직사각형 2">
            <a:extLst>
              <a:ext uri="{FF2B5EF4-FFF2-40B4-BE49-F238E27FC236}">
                <a16:creationId xmlns:a16="http://schemas.microsoft.com/office/drawing/2014/main" id="{315FE066-0AEA-971A-DD8E-899E7890BBAA}"/>
              </a:ext>
            </a:extLst>
          </p:cNvPr>
          <p:cNvSpPr/>
          <p:nvPr/>
        </p:nvSpPr>
        <p:spPr>
          <a:xfrm>
            <a:off x="0" y="1"/>
            <a:ext cx="12192000" cy="678298"/>
          </a:xfrm>
          <a:prstGeom prst="rect">
            <a:avLst/>
          </a:prstGeom>
          <a:solidFill>
            <a:srgbClr val="2E75B5"/>
          </a:solidFill>
          <a:ln>
            <a:solidFill>
              <a:srgbClr val="2E75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9BEE63-5C51-417E-3B38-00A7CC295359}"/>
              </a:ext>
            </a:extLst>
          </p:cNvPr>
          <p:cNvSpPr txBox="1"/>
          <p:nvPr/>
        </p:nvSpPr>
        <p:spPr>
          <a:xfrm>
            <a:off x="403887" y="108318"/>
            <a:ext cx="9645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소스 코드 분석 목표</a:t>
            </a:r>
          </a:p>
        </p:txBody>
      </p:sp>
      <p:pic>
        <p:nvPicPr>
          <p:cNvPr id="6" name="그래픽 4">
            <a:extLst>
              <a:ext uri="{FF2B5EF4-FFF2-40B4-BE49-F238E27FC236}">
                <a16:creationId xmlns:a16="http://schemas.microsoft.com/office/drawing/2014/main" id="{A29E74A8-A05E-69CA-0764-6C9930D702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51673" y="125659"/>
            <a:ext cx="1864038" cy="4269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852F13-EB63-94F2-3194-EDF790B67EB0}"/>
              </a:ext>
            </a:extLst>
          </p:cNvPr>
          <p:cNvSpPr txBox="1"/>
          <p:nvPr/>
        </p:nvSpPr>
        <p:spPr>
          <a:xfrm>
            <a:off x="800100" y="2200294"/>
            <a:ext cx="1622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자료구조 학습</a:t>
            </a:r>
            <a:endParaRPr lang="en-US" altLang="ko-KR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A309BC-3E3D-1A19-FC39-D3BD5A90F21B}"/>
              </a:ext>
            </a:extLst>
          </p:cNvPr>
          <p:cNvSpPr txBox="1"/>
          <p:nvPr/>
        </p:nvSpPr>
        <p:spPr>
          <a:xfrm>
            <a:off x="800100" y="1136650"/>
            <a:ext cx="2598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리눅스 운영체제의 이해</a:t>
            </a:r>
            <a:endParaRPr lang="en-US" altLang="ko-KR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C85E37-D7DE-EDE3-F89B-1EB78E79DDDF}"/>
              </a:ext>
            </a:extLst>
          </p:cNvPr>
          <p:cNvSpPr txBox="1"/>
          <p:nvPr/>
        </p:nvSpPr>
        <p:spPr>
          <a:xfrm>
            <a:off x="800100" y="3649275"/>
            <a:ext cx="11608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기타 학습</a:t>
            </a:r>
            <a:endParaRPr lang="en-US" altLang="ko-KR" b="1" dirty="0"/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C093AE-5D27-F976-A52D-31DA1180EEBA}"/>
              </a:ext>
            </a:extLst>
          </p:cNvPr>
          <p:cNvSpPr txBox="1"/>
          <p:nvPr/>
        </p:nvSpPr>
        <p:spPr>
          <a:xfrm>
            <a:off x="1114425" y="3976996"/>
            <a:ext cx="6102350" cy="1709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- </a:t>
            </a:r>
            <a:r>
              <a:rPr lang="ko-KR" altLang="en-US" dirty="0"/>
              <a:t>키보드 입력 인터페이스 이해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- GUI </a:t>
            </a:r>
            <a:r>
              <a:rPr lang="ko-KR" altLang="en-US" dirty="0"/>
              <a:t>인터페이스 이해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- C</a:t>
            </a:r>
            <a:r>
              <a:rPr lang="ko-KR" altLang="en-US" dirty="0"/>
              <a:t>언어 구조체에 대한 이해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- </a:t>
            </a:r>
            <a:r>
              <a:rPr lang="ko-KR" altLang="en-US" dirty="0"/>
              <a:t>동적 메모리 할당 학습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3F990BA-BE25-7102-B090-0EC36F3D0AD2}"/>
              </a:ext>
            </a:extLst>
          </p:cNvPr>
          <p:cNvSpPr txBox="1"/>
          <p:nvPr/>
        </p:nvSpPr>
        <p:spPr>
          <a:xfrm>
            <a:off x="1114425" y="2411183"/>
            <a:ext cx="6102350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- Linked list</a:t>
            </a:r>
          </a:p>
          <a:p>
            <a:pPr>
              <a:lnSpc>
                <a:spcPct val="150000"/>
              </a:lnSpc>
            </a:pPr>
            <a:r>
              <a:rPr lang="en-US" dirty="0"/>
              <a:t>- Queue(Deque)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F094035-A5BC-4792-15C3-796AC70BBEF6}"/>
              </a:ext>
            </a:extLst>
          </p:cNvPr>
          <p:cNvSpPr txBox="1"/>
          <p:nvPr/>
        </p:nvSpPr>
        <p:spPr>
          <a:xfrm>
            <a:off x="1114425" y="1458302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- Ubuntu </a:t>
            </a:r>
            <a:r>
              <a:rPr lang="ko-KR" altLang="en-US" dirty="0"/>
              <a:t>환경의 이해 </a:t>
            </a:r>
          </a:p>
        </p:txBody>
      </p:sp>
    </p:spTree>
    <p:extLst>
      <p:ext uri="{BB962C8B-B14F-4D97-AF65-F5344CB8AC3E}">
        <p14:creationId xmlns:p14="http://schemas.microsoft.com/office/powerpoint/2010/main" val="488863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75DC5D2-1B84-33D3-0826-AE96AA70F494}"/>
              </a:ext>
            </a:extLst>
          </p:cNvPr>
          <p:cNvSpPr/>
          <p:nvPr/>
        </p:nvSpPr>
        <p:spPr>
          <a:xfrm>
            <a:off x="1456267" y="4011083"/>
            <a:ext cx="9105900" cy="10287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2B2E7E4-10C1-E2C7-EEC2-EF2E20ED6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ea typeface="Noto Sans" panose="020B0502040504020204" pitchFamily="34" charset="0"/>
              </a:rPr>
              <a:t>Ettifos Confidential</a:t>
            </a:r>
            <a:endParaRPr lang="ko-KR" alt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A80859-85B4-ED39-1444-9CFFD33DA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543-08BB-43E3-B4C7-79409ADD4471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4" name="직사각형 2">
            <a:extLst>
              <a:ext uri="{FF2B5EF4-FFF2-40B4-BE49-F238E27FC236}">
                <a16:creationId xmlns:a16="http://schemas.microsoft.com/office/drawing/2014/main" id="{315FE066-0AEA-971A-DD8E-899E7890BBAA}"/>
              </a:ext>
            </a:extLst>
          </p:cNvPr>
          <p:cNvSpPr/>
          <p:nvPr/>
        </p:nvSpPr>
        <p:spPr>
          <a:xfrm>
            <a:off x="0" y="1"/>
            <a:ext cx="12192000" cy="678298"/>
          </a:xfrm>
          <a:prstGeom prst="rect">
            <a:avLst/>
          </a:prstGeom>
          <a:solidFill>
            <a:srgbClr val="2E75B5"/>
          </a:solidFill>
          <a:ln>
            <a:solidFill>
              <a:srgbClr val="2E75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9BEE63-5C51-417E-3B38-00A7CC295359}"/>
              </a:ext>
            </a:extLst>
          </p:cNvPr>
          <p:cNvSpPr txBox="1"/>
          <p:nvPr/>
        </p:nvSpPr>
        <p:spPr>
          <a:xfrm>
            <a:off x="403887" y="108318"/>
            <a:ext cx="9645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소스 코드 분석 과제</a:t>
            </a:r>
          </a:p>
        </p:txBody>
      </p:sp>
      <p:pic>
        <p:nvPicPr>
          <p:cNvPr id="6" name="그래픽 4">
            <a:extLst>
              <a:ext uri="{FF2B5EF4-FFF2-40B4-BE49-F238E27FC236}">
                <a16:creationId xmlns:a16="http://schemas.microsoft.com/office/drawing/2014/main" id="{A29E74A8-A05E-69CA-0764-6C9930D702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51673" y="125659"/>
            <a:ext cx="1864038" cy="4269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4A309BC-3E3D-1A19-FC39-D3BD5A90F21B}"/>
              </a:ext>
            </a:extLst>
          </p:cNvPr>
          <p:cNvSpPr txBox="1"/>
          <p:nvPr/>
        </p:nvSpPr>
        <p:spPr>
          <a:xfrm>
            <a:off x="800100" y="1136650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학습 결과물</a:t>
            </a:r>
            <a:endParaRPr lang="en-US" altLang="ko-KR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F094035-A5BC-4792-15C3-796AC70BBEF6}"/>
              </a:ext>
            </a:extLst>
          </p:cNvPr>
          <p:cNvSpPr txBox="1"/>
          <p:nvPr/>
        </p:nvSpPr>
        <p:spPr>
          <a:xfrm>
            <a:off x="1114424" y="1529422"/>
            <a:ext cx="6678295" cy="129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- </a:t>
            </a:r>
            <a:r>
              <a:rPr lang="ko-KR" altLang="en-US" dirty="0"/>
              <a:t>소스 코드 분석 결과물</a:t>
            </a:r>
            <a:br>
              <a:rPr lang="en-US" altLang="ko-KR" dirty="0"/>
            </a:br>
            <a:r>
              <a:rPr lang="en-US" altLang="ko-KR" dirty="0"/>
              <a:t>   * PowerPoint</a:t>
            </a:r>
            <a:r>
              <a:rPr lang="ko-KR" altLang="en-US" dirty="0"/>
              <a:t>를 이용하여 각 메소드</a:t>
            </a:r>
            <a:r>
              <a:rPr lang="en-US" altLang="ko-KR" dirty="0"/>
              <a:t>(Method)</a:t>
            </a:r>
            <a:r>
              <a:rPr lang="ko-KR" altLang="en-US" dirty="0"/>
              <a:t>에 대한 설명</a:t>
            </a:r>
            <a:r>
              <a:rPr lang="en-US" altLang="ko-KR" dirty="0"/>
              <a:t> </a:t>
            </a:r>
            <a:r>
              <a:rPr lang="ko-KR" altLang="en-US" dirty="0"/>
              <a:t>정리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       </a:t>
            </a:r>
            <a:r>
              <a:rPr lang="ko-KR" altLang="en-US" dirty="0"/>
              <a:t>추가 </a:t>
            </a:r>
            <a:r>
              <a:rPr lang="en-US" altLang="ko-KR" dirty="0"/>
              <a:t>: </a:t>
            </a:r>
            <a:r>
              <a:rPr lang="ko-KR" altLang="en-US" dirty="0"/>
              <a:t>분석 목표로 설정한 항목에 대한 이해와 설명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6A83D8-1525-AEFA-1355-32A4B50529CF}"/>
              </a:ext>
            </a:extLst>
          </p:cNvPr>
          <p:cNvSpPr txBox="1"/>
          <p:nvPr/>
        </p:nvSpPr>
        <p:spPr>
          <a:xfrm>
            <a:off x="1114424" y="3485645"/>
            <a:ext cx="7084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   * </a:t>
            </a:r>
            <a:r>
              <a:rPr lang="ko-KR" altLang="en-US" dirty="0"/>
              <a:t>추가 기능 개발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7C52A5-D81C-B623-FBF0-26173EBFAA51}"/>
              </a:ext>
            </a:extLst>
          </p:cNvPr>
          <p:cNvSpPr txBox="1"/>
          <p:nvPr/>
        </p:nvSpPr>
        <p:spPr>
          <a:xfrm>
            <a:off x="2491315" y="4548055"/>
            <a:ext cx="8251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Hint : </a:t>
            </a:r>
            <a:r>
              <a:rPr lang="ko-KR" altLang="en-US" dirty="0"/>
              <a:t>기존 아이템 생성 로직과 유사하며</a:t>
            </a:r>
            <a:r>
              <a:rPr lang="en-US" altLang="ko-KR" dirty="0"/>
              <a:t>, </a:t>
            </a:r>
            <a:r>
              <a:rPr lang="ko-KR" altLang="en-US" dirty="0"/>
              <a:t>시간 체크와 위치에 대한 조건문 작성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CEA074-D7BC-AE39-C765-618BEB4D1EE6}"/>
              </a:ext>
            </a:extLst>
          </p:cNvPr>
          <p:cNvSpPr txBox="1"/>
          <p:nvPr/>
        </p:nvSpPr>
        <p:spPr>
          <a:xfrm>
            <a:off x="2230965" y="4150458"/>
            <a:ext cx="74453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 * </a:t>
            </a:r>
            <a:r>
              <a:rPr lang="ko-KR" altLang="en-US" dirty="0"/>
              <a:t>아이템 외 일정 시간 이상 경과 시 랜덤 한 위치에 </a:t>
            </a:r>
            <a:r>
              <a:rPr lang="en-US" altLang="ko-KR" dirty="0"/>
              <a:t>“X” </a:t>
            </a:r>
            <a:r>
              <a:rPr lang="ko-KR" altLang="en-US" dirty="0"/>
              <a:t>장애물 설치 개발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B08567-AF86-0735-E15A-E1C640C37715}"/>
              </a:ext>
            </a:extLst>
          </p:cNvPr>
          <p:cNvSpPr txBox="1"/>
          <p:nvPr/>
        </p:nvSpPr>
        <p:spPr>
          <a:xfrm>
            <a:off x="1418960" y="4026839"/>
            <a:ext cx="74453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선택 </a:t>
            </a:r>
            <a:r>
              <a:rPr lang="en-US" altLang="ko-KR" dirty="0"/>
              <a:t>1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088AC3A-E6D5-D85A-E80D-A3849B7C72F2}"/>
              </a:ext>
            </a:extLst>
          </p:cNvPr>
          <p:cNvSpPr/>
          <p:nvPr/>
        </p:nvSpPr>
        <p:spPr>
          <a:xfrm>
            <a:off x="1456267" y="5177181"/>
            <a:ext cx="9105900" cy="10287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8E36B9-4022-2E57-2B4E-A6D937F74252}"/>
              </a:ext>
            </a:extLst>
          </p:cNvPr>
          <p:cNvSpPr txBox="1"/>
          <p:nvPr/>
        </p:nvSpPr>
        <p:spPr>
          <a:xfrm>
            <a:off x="2491315" y="5714153"/>
            <a:ext cx="8251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Hint : </a:t>
            </a:r>
            <a:r>
              <a:rPr lang="ko-KR" altLang="en-US" dirty="0"/>
              <a:t>기존 아이템 생성 로직과 유사하며</a:t>
            </a:r>
            <a:r>
              <a:rPr lang="en-US" altLang="ko-KR" dirty="0"/>
              <a:t>, head</a:t>
            </a:r>
            <a:r>
              <a:rPr lang="ko-KR" altLang="en-US" dirty="0"/>
              <a:t>를 </a:t>
            </a:r>
            <a:r>
              <a:rPr lang="en-US" altLang="ko-KR" dirty="0"/>
              <a:t>2</a:t>
            </a:r>
            <a:r>
              <a:rPr lang="ko-KR" altLang="en-US" dirty="0"/>
              <a:t>개 생성하는 로직 추가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DBBBB0-F8FE-8C2A-5037-56AC37455D45}"/>
              </a:ext>
            </a:extLst>
          </p:cNvPr>
          <p:cNvSpPr txBox="1"/>
          <p:nvPr/>
        </p:nvSpPr>
        <p:spPr>
          <a:xfrm>
            <a:off x="2230965" y="5316556"/>
            <a:ext cx="74453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 * </a:t>
            </a:r>
            <a:r>
              <a:rPr lang="ko-KR" altLang="en-US" dirty="0"/>
              <a:t>특수 아이템 생성하여 획득 시 </a:t>
            </a:r>
            <a:r>
              <a:rPr lang="en-US" altLang="ko-KR" dirty="0"/>
              <a:t>2</a:t>
            </a:r>
            <a:r>
              <a:rPr lang="ko-KR" altLang="en-US" dirty="0"/>
              <a:t>개 길이가 늘어나는 기능 개발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8A2A6D-AE7B-4D02-5DBF-82FBC15FDDEA}"/>
              </a:ext>
            </a:extLst>
          </p:cNvPr>
          <p:cNvSpPr txBox="1"/>
          <p:nvPr/>
        </p:nvSpPr>
        <p:spPr>
          <a:xfrm>
            <a:off x="1418960" y="5192937"/>
            <a:ext cx="74453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선택 </a:t>
            </a:r>
            <a:r>
              <a:rPr lang="en-US" altLang="ko-KR" dirty="0"/>
              <a:t>2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58C59-B7BA-2BB5-CA4F-4C9FB8BA1635}"/>
              </a:ext>
            </a:extLst>
          </p:cNvPr>
          <p:cNvSpPr txBox="1"/>
          <p:nvPr/>
        </p:nvSpPr>
        <p:spPr>
          <a:xfrm>
            <a:off x="1074420" y="3064933"/>
            <a:ext cx="1745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소스코드 제출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13645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2B2E7E4-10C1-E2C7-EEC2-EF2E20ED6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ea typeface="Noto Sans" panose="020B0502040504020204" pitchFamily="34" charset="0"/>
              </a:rPr>
              <a:t>Ettifos Confidential</a:t>
            </a:r>
            <a:endParaRPr lang="ko-KR" alt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A80859-85B4-ED39-1444-9CFFD33DA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543-08BB-43E3-B4C7-79409ADD4471}" type="slidenum">
              <a:rPr lang="ko-KR" altLang="en-US" smtClean="0"/>
              <a:pPr/>
              <a:t>6</a:t>
            </a:fld>
            <a:endParaRPr lang="ko-KR" altLang="en-US"/>
          </a:p>
        </p:txBody>
      </p:sp>
      <p:sp>
        <p:nvSpPr>
          <p:cNvPr id="4" name="직사각형 2">
            <a:extLst>
              <a:ext uri="{FF2B5EF4-FFF2-40B4-BE49-F238E27FC236}">
                <a16:creationId xmlns:a16="http://schemas.microsoft.com/office/drawing/2014/main" id="{315FE066-0AEA-971A-DD8E-899E7890BBAA}"/>
              </a:ext>
            </a:extLst>
          </p:cNvPr>
          <p:cNvSpPr/>
          <p:nvPr/>
        </p:nvSpPr>
        <p:spPr>
          <a:xfrm>
            <a:off x="0" y="1"/>
            <a:ext cx="12192000" cy="678298"/>
          </a:xfrm>
          <a:prstGeom prst="rect">
            <a:avLst/>
          </a:prstGeom>
          <a:solidFill>
            <a:srgbClr val="2E75B5"/>
          </a:solidFill>
          <a:ln>
            <a:solidFill>
              <a:srgbClr val="2E75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9BEE63-5C51-417E-3B38-00A7CC295359}"/>
              </a:ext>
            </a:extLst>
          </p:cNvPr>
          <p:cNvSpPr txBox="1"/>
          <p:nvPr/>
        </p:nvSpPr>
        <p:spPr>
          <a:xfrm>
            <a:off x="403887" y="108318"/>
            <a:ext cx="9645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  <a:latin typeface="Noto Sans" panose="020B0502040504020204" pitchFamily="34" charset="0"/>
                <a:ea typeface="KoPub돋움체 Medium" panose="00000600000000000000" pitchFamily="2" charset="-127"/>
                <a:cs typeface="Noto Sans" panose="020B0502040504020204" pitchFamily="34" charset="0"/>
              </a:rPr>
              <a:t>최종 목표</a:t>
            </a:r>
          </a:p>
        </p:txBody>
      </p:sp>
      <p:pic>
        <p:nvPicPr>
          <p:cNvPr id="6" name="그래픽 4">
            <a:extLst>
              <a:ext uri="{FF2B5EF4-FFF2-40B4-BE49-F238E27FC236}">
                <a16:creationId xmlns:a16="http://schemas.microsoft.com/office/drawing/2014/main" id="{A29E74A8-A05E-69CA-0764-6C9930D702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51673" y="125659"/>
            <a:ext cx="1864038" cy="4269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4A309BC-3E3D-1A19-FC39-D3BD5A90F21B}"/>
              </a:ext>
            </a:extLst>
          </p:cNvPr>
          <p:cNvSpPr txBox="1"/>
          <p:nvPr/>
        </p:nvSpPr>
        <p:spPr>
          <a:xfrm>
            <a:off x="800100" y="2101850"/>
            <a:ext cx="6370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학습 결과물 </a:t>
            </a:r>
            <a:r>
              <a:rPr lang="en-US" altLang="ko-KR" b="1" dirty="0"/>
              <a:t>: </a:t>
            </a:r>
            <a:r>
              <a:rPr lang="ko-KR" altLang="en-US" b="1" dirty="0"/>
              <a:t>서버 구축 및 소켓 통신을 통한 랭킹 시스템 개발</a:t>
            </a:r>
            <a:endParaRPr lang="en-US" altLang="ko-KR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F094035-A5BC-4792-15C3-796AC70BBEF6}"/>
              </a:ext>
            </a:extLst>
          </p:cNvPr>
          <p:cNvSpPr txBox="1"/>
          <p:nvPr/>
        </p:nvSpPr>
        <p:spPr>
          <a:xfrm>
            <a:off x="1114424" y="2494622"/>
            <a:ext cx="9990456" cy="1674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서버를 구축하여 클라이언트</a:t>
            </a:r>
            <a:r>
              <a:rPr lang="en-US" altLang="ko-KR" dirty="0"/>
              <a:t>(</a:t>
            </a:r>
            <a:r>
              <a:rPr lang="ko-KR" altLang="en-US" dirty="0"/>
              <a:t>사용자</a:t>
            </a:r>
            <a:r>
              <a:rPr lang="en-US" altLang="ko-KR" dirty="0"/>
              <a:t>) </a:t>
            </a:r>
            <a:r>
              <a:rPr lang="ko-KR" altLang="en-US" dirty="0"/>
              <a:t>게임 진행 시 최고 점수를 </a:t>
            </a:r>
            <a:r>
              <a:rPr lang="en-US" altLang="ko-KR" dirty="0"/>
              <a:t>Socket </a:t>
            </a:r>
            <a:r>
              <a:rPr lang="ko-KR" altLang="en-US" dirty="0"/>
              <a:t>통신을 통해 수신 받는다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서버는 수신한 점수를 </a:t>
            </a:r>
            <a:r>
              <a:rPr lang="en-US" altLang="ko-KR" dirty="0"/>
              <a:t>Sorting(</a:t>
            </a:r>
            <a:r>
              <a:rPr lang="ko-KR" altLang="en-US" dirty="0"/>
              <a:t>정렬</a:t>
            </a:r>
            <a:r>
              <a:rPr lang="en-US" altLang="ko-KR" dirty="0"/>
              <a:t>)</a:t>
            </a:r>
            <a:r>
              <a:rPr lang="ko-KR" altLang="en-US" dirty="0"/>
              <a:t>을 통해 점수</a:t>
            </a:r>
            <a:r>
              <a:rPr lang="en-US" altLang="ko-KR" dirty="0"/>
              <a:t> History</a:t>
            </a:r>
            <a:r>
              <a:rPr lang="ko-KR" altLang="en-US" dirty="0"/>
              <a:t>를 보여준다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클라이언트</a:t>
            </a:r>
            <a:r>
              <a:rPr lang="en-US" altLang="ko-KR" dirty="0"/>
              <a:t>(</a:t>
            </a:r>
            <a:r>
              <a:rPr lang="ko-KR" altLang="en-US" dirty="0"/>
              <a:t>사용자</a:t>
            </a:r>
            <a:r>
              <a:rPr lang="en-US" altLang="ko-KR" dirty="0"/>
              <a:t>)</a:t>
            </a:r>
            <a:r>
              <a:rPr lang="ko-KR" altLang="en-US" dirty="0"/>
              <a:t>는 서버로 부터 랭킹 점수를 볼 수 있으며</a:t>
            </a:r>
            <a:r>
              <a:rPr lang="en-US" altLang="ko-KR" dirty="0"/>
              <a:t>, </a:t>
            </a:r>
            <a:r>
              <a:rPr lang="ko-KR" altLang="en-US" dirty="0"/>
              <a:t>자신의 점수를 삭제할 수 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86812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2B2E7E4-10C1-E2C7-EEC2-EF2E20ED6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ea typeface="Noto Sans" panose="020B0502040504020204" pitchFamily="34" charset="0"/>
              </a:rPr>
              <a:t>Ettifos Confidential</a:t>
            </a:r>
            <a:endParaRPr lang="ko-KR" alt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A80859-85B4-ED39-1444-9CFFD33DA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543-08BB-43E3-B4C7-79409ADD4471}" type="slidenum">
              <a:rPr lang="ko-KR" altLang="en-US" smtClean="0"/>
              <a:pPr/>
              <a:t>7</a:t>
            </a:fld>
            <a:endParaRPr lang="ko-KR" altLang="en-US"/>
          </a:p>
        </p:txBody>
      </p:sp>
      <p:sp>
        <p:nvSpPr>
          <p:cNvPr id="4" name="직사각형 2">
            <a:extLst>
              <a:ext uri="{FF2B5EF4-FFF2-40B4-BE49-F238E27FC236}">
                <a16:creationId xmlns:a16="http://schemas.microsoft.com/office/drawing/2014/main" id="{315FE066-0AEA-971A-DD8E-899E7890BBAA}"/>
              </a:ext>
            </a:extLst>
          </p:cNvPr>
          <p:cNvSpPr/>
          <p:nvPr/>
        </p:nvSpPr>
        <p:spPr>
          <a:xfrm>
            <a:off x="0" y="1"/>
            <a:ext cx="12192000" cy="678298"/>
          </a:xfrm>
          <a:prstGeom prst="rect">
            <a:avLst/>
          </a:prstGeom>
          <a:solidFill>
            <a:srgbClr val="2E75B5"/>
          </a:solidFill>
          <a:ln>
            <a:solidFill>
              <a:srgbClr val="2E75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9BEE63-5C51-417E-3B38-00A7CC295359}"/>
              </a:ext>
            </a:extLst>
          </p:cNvPr>
          <p:cNvSpPr txBox="1"/>
          <p:nvPr/>
        </p:nvSpPr>
        <p:spPr>
          <a:xfrm>
            <a:off x="403887" y="108318"/>
            <a:ext cx="9645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Noto Sans" panose="020B0502040504020204" pitchFamily="34" charset="0"/>
              <a:ea typeface="KoPub돋움체 Medium" panose="00000600000000000000" pitchFamily="2" charset="-127"/>
              <a:cs typeface="Noto Sans" panose="020B0502040504020204" pitchFamily="34" charset="0"/>
            </a:endParaRPr>
          </a:p>
        </p:txBody>
      </p:sp>
      <p:pic>
        <p:nvPicPr>
          <p:cNvPr id="6" name="그래픽 4">
            <a:extLst>
              <a:ext uri="{FF2B5EF4-FFF2-40B4-BE49-F238E27FC236}">
                <a16:creationId xmlns:a16="http://schemas.microsoft.com/office/drawing/2014/main" id="{A29E74A8-A05E-69CA-0764-6C9930D702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51673" y="125659"/>
            <a:ext cx="1864038" cy="4269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4A309BC-3E3D-1A19-FC39-D3BD5A90F21B}"/>
              </a:ext>
            </a:extLst>
          </p:cNvPr>
          <p:cNvSpPr txBox="1"/>
          <p:nvPr/>
        </p:nvSpPr>
        <p:spPr>
          <a:xfrm>
            <a:off x="4727207" y="3054751"/>
            <a:ext cx="244490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200" b="1" dirty="0"/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4088542594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TM02900743[[fn=자연주의]]</Template>
  <TotalTime>19994</TotalTime>
  <Words>377</Words>
  <Application>Microsoft Office PowerPoint</Application>
  <PresentationFormat>Widescreen</PresentationFormat>
  <Paragraphs>71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맑은 고딕</vt:lpstr>
      <vt:lpstr>Arial</vt:lpstr>
      <vt:lpstr>Calibri</vt:lpstr>
      <vt:lpstr>Calibri Light</vt:lpstr>
      <vt:lpstr>Noto Sans</vt:lpstr>
      <vt:lpstr>Wingdings 2</vt:lpstr>
      <vt:lpstr>HDOfficeLightV0</vt:lpstr>
      <vt:lpstr>디자인 사용자 지정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Dong Wonyoung</dc:creator>
  <cp:lastModifiedBy>Coettifos4</cp:lastModifiedBy>
  <cp:revision>1271</cp:revision>
  <dcterms:created xsi:type="dcterms:W3CDTF">2019-03-04T10:55:32Z</dcterms:created>
  <dcterms:modified xsi:type="dcterms:W3CDTF">2023-10-30T08:51:44Z</dcterms:modified>
</cp:coreProperties>
</file>